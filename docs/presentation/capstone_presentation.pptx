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355" r:id="rId2"/>
    <p:sldId id="354" r:id="rId3"/>
    <p:sldId id="356" r:id="rId4"/>
    <p:sldId id="388" r:id="rId5"/>
    <p:sldId id="365" r:id="rId6"/>
    <p:sldId id="366" r:id="rId7"/>
    <p:sldId id="359" r:id="rId8"/>
    <p:sldId id="370" r:id="rId9"/>
    <p:sldId id="371" r:id="rId10"/>
    <p:sldId id="372" r:id="rId11"/>
    <p:sldId id="389" r:id="rId12"/>
    <p:sldId id="390" r:id="rId13"/>
    <p:sldId id="391" r:id="rId14"/>
    <p:sldId id="379" r:id="rId15"/>
    <p:sldId id="381" r:id="rId16"/>
    <p:sldId id="378" r:id="rId17"/>
    <p:sldId id="380" r:id="rId18"/>
    <p:sldId id="383" r:id="rId19"/>
    <p:sldId id="384" r:id="rId20"/>
    <p:sldId id="357" r:id="rId21"/>
    <p:sldId id="358" r:id="rId22"/>
    <p:sldId id="360" r:id="rId23"/>
    <p:sldId id="361" r:id="rId24"/>
    <p:sldId id="362" r:id="rId25"/>
    <p:sldId id="363" r:id="rId26"/>
    <p:sldId id="367" r:id="rId27"/>
    <p:sldId id="368" r:id="rId28"/>
    <p:sldId id="369" r:id="rId29"/>
    <p:sldId id="373" r:id="rId30"/>
    <p:sldId id="374" r:id="rId31"/>
    <p:sldId id="375" r:id="rId32"/>
    <p:sldId id="364" r:id="rId33"/>
    <p:sldId id="392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87" autoAdjust="0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44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Market Size</c:v>
          </c:tx>
          <c:spPr>
            <a:solidFill>
              <a:srgbClr val="DADBF1"/>
            </a:solidFill>
            <a:ln>
              <a:noFill/>
            </a:ln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6"/>
              <c:pt idx="0">
                <c:v>2020</c:v>
              </c:pt>
              <c:pt idx="1">
                <c:v>2022</c:v>
              </c:pt>
              <c:pt idx="2">
                <c:v>2024</c:v>
              </c:pt>
              <c:pt idx="3">
                <c:v>2026</c:v>
              </c:pt>
              <c:pt idx="4">
                <c:v>2028</c:v>
              </c:pt>
              <c:pt idx="5">
                <c:v>2030</c:v>
              </c:pt>
            </c:strLit>
          </c:cat>
          <c:val>
            <c:numLit>
              <c:formatCode>General</c:formatCode>
              <c:ptCount val="6"/>
              <c:pt idx="0">
                <c:v>200</c:v>
              </c:pt>
              <c:pt idx="1">
                <c:v>260</c:v>
              </c:pt>
              <c:pt idx="2">
                <c:v>340</c:v>
              </c:pt>
              <c:pt idx="3">
                <c:v>445</c:v>
              </c:pt>
              <c:pt idx="4">
                <c:v>580</c:v>
              </c:pt>
              <c:pt idx="5">
                <c:v>843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725-4A0F-9CD4-59B0377B97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111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2046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47BCD-066C-B76A-561E-5C3EE4ABD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7415F5-DD11-451C-E9FB-F2719F6B1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2146B5-BC1E-868E-824C-BCD21E3CB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E3E33-7696-CF18-7A8C-F25F2142C9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56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1EB2F-A83E-38F4-ACF2-D3254788C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E5BC3B-ACF0-BAD4-619D-E1212459A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E1A7CC-221A-8D8E-2587-F1CA52E56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8BC2CA-C30F-874C-A577-7E8E396F9F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4740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73D89-4B71-C08A-3CDF-60E9A722F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C6C8F-170F-119F-060E-46532D664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7C089C-2ADA-5E58-7860-3AE0C6A9A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DA30D-656B-78CF-E0C1-A510B8EC48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8089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162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633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1811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520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6417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7799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678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0740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509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294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 sz="1125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 sz="1125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25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02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017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66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264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49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049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720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373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81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YuichiYamazaki-source/Capstone" TargetMode="Externa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39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38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svg"/><Relationship Id="rId11" Type="http://schemas.openxmlformats.org/officeDocument/2006/relationships/image" Target="../media/image37.png"/><Relationship Id="rId5" Type="http://schemas.openxmlformats.org/officeDocument/2006/relationships/image" Target="../media/image33.png"/><Relationship Id="rId10" Type="http://schemas.openxmlformats.org/officeDocument/2006/relationships/image" Target="../media/image18.svg"/><Relationship Id="rId4" Type="http://schemas.openxmlformats.org/officeDocument/2006/relationships/image" Target="../media/image32.svg"/><Relationship Id="rId9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svg"/><Relationship Id="rId3" Type="http://schemas.openxmlformats.org/officeDocument/2006/relationships/image" Target="../media/image40.png"/><Relationship Id="rId7" Type="http://schemas.openxmlformats.org/officeDocument/2006/relationships/image" Target="../media/image44.sv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svg"/><Relationship Id="rId5" Type="http://schemas.openxmlformats.org/officeDocument/2006/relationships/image" Target="../media/image42.sv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53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image" Target="../media/image52.png"/><Relationship Id="rId4" Type="http://schemas.openxmlformats.org/officeDocument/2006/relationships/image" Target="../media/image23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svg"/><Relationship Id="rId3" Type="http://schemas.openxmlformats.org/officeDocument/2006/relationships/image" Target="../media/image57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9.svg"/><Relationship Id="rId11" Type="http://schemas.openxmlformats.org/officeDocument/2006/relationships/image" Target="../media/image64.svg"/><Relationship Id="rId5" Type="http://schemas.openxmlformats.org/officeDocument/2006/relationships/image" Target="../media/image47.png"/><Relationship Id="rId10" Type="http://schemas.openxmlformats.org/officeDocument/2006/relationships/image" Target="../media/image63.png"/><Relationship Id="rId4" Type="http://schemas.openxmlformats.org/officeDocument/2006/relationships/image" Target="../media/image58.svg"/><Relationship Id="rId9" Type="http://schemas.openxmlformats.org/officeDocument/2006/relationships/image" Target="../media/image6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47297" y="1355608"/>
            <a:ext cx="5222630" cy="1017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algn="ctr">
              <a:lnSpc>
                <a:spcPts val="3469"/>
              </a:lnSpc>
            </a:pPr>
            <a:r>
              <a:rPr lang="en-US" sz="4172" b="1" dirty="0">
                <a:solidFill>
                  <a:srgbClr val="000000"/>
                </a:solidFill>
                <a:latin typeface="Segoe UI" pitchFamily="34"/>
              </a:rPr>
              <a:t>Intelligent University </a:t>
            </a:r>
          </a:p>
          <a:p>
            <a:pPr algn="ctr">
              <a:lnSpc>
                <a:spcPts val="3469"/>
              </a:lnSpc>
            </a:pPr>
            <a:r>
              <a:rPr lang="en-US" sz="4172" b="1" dirty="0">
                <a:solidFill>
                  <a:srgbClr val="000000"/>
                </a:solidFill>
                <a:latin typeface="Segoe UI" pitchFamily="34"/>
              </a:rPr>
              <a:t>Course Finder</a:t>
            </a:r>
            <a:endParaRPr lang="en-US" sz="4172" dirty="0"/>
          </a:p>
        </p:txBody>
      </p:sp>
      <p:sp>
        <p:nvSpPr>
          <p:cNvPr id="4" name="Shape 1"/>
          <p:cNvSpPr/>
          <p:nvPr/>
        </p:nvSpPr>
        <p:spPr>
          <a:xfrm>
            <a:off x="3723610" y="2369288"/>
            <a:ext cx="5222630" cy="598007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33047" y="2429881"/>
            <a:ext cx="438953" cy="4389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66610" y="2616622"/>
            <a:ext cx="417665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>
              <a:lnSpc>
                <a:spcPts val="1406"/>
              </a:lnSpc>
            </a:pPr>
            <a:r>
              <a:rPr lang="en-US" sz="2400" dirty="0"/>
              <a:t>FDE2ndBatchTraining Capstone</a:t>
            </a:r>
          </a:p>
        </p:txBody>
      </p:sp>
      <p:sp>
        <p:nvSpPr>
          <p:cNvPr id="7" name="Shape 3"/>
          <p:cNvSpPr/>
          <p:nvPr/>
        </p:nvSpPr>
        <p:spPr>
          <a:xfrm>
            <a:off x="4623536" y="3129230"/>
            <a:ext cx="3319236" cy="606252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8" name="Text 4"/>
          <p:cNvSpPr/>
          <p:nvPr/>
        </p:nvSpPr>
        <p:spPr>
          <a:xfrm>
            <a:off x="5045863" y="3413403"/>
            <a:ext cx="3319236" cy="8063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>
              <a:lnSpc>
                <a:spcPts val="1406"/>
              </a:lnSpc>
            </a:pPr>
            <a:r>
              <a:rPr lang="en-US" sz="3200" dirty="0"/>
              <a:t>Yuichi Yamazaki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73717-74D1-A2E8-6ED3-F4B74C75BDEB}"/>
              </a:ext>
            </a:extLst>
          </p:cNvPr>
          <p:cNvSpPr txBox="1"/>
          <p:nvPr/>
        </p:nvSpPr>
        <p:spPr>
          <a:xfrm>
            <a:off x="3075708" y="3931493"/>
            <a:ext cx="64839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6"/>
              </a:rPr>
              <a:t>https://github.com/YuichiYamazaki-source/Capstone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175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Bar"/>
          <p:cNvSpPr/>
          <p:nvPr/>
        </p:nvSpPr>
        <p:spPr>
          <a:xfrm>
            <a:off x="0" y="0"/>
            <a:ext cx="165100" cy="514350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SectionLabel"/>
          <p:cNvSpPr/>
          <p:nvPr/>
        </p:nvSpPr>
        <p:spPr>
          <a:xfrm>
            <a:off x="457200" y="61139"/>
            <a:ext cx="5585155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indent="0">
              <a:buNone/>
            </a:pPr>
            <a:r>
              <a:rPr lang="en-US" sz="2400" b="1" spc="200" dirty="0">
                <a:solidFill>
                  <a:srgbClr val="4950BC"/>
                </a:solidFill>
                <a:latin typeface="Segoe UI"/>
              </a:rPr>
              <a:t>MARKET OPPORTUNITY</a:t>
            </a:r>
          </a:p>
        </p:txBody>
      </p:sp>
      <p:sp>
        <p:nvSpPr>
          <p:cNvPr id="12" name="Title"/>
          <p:cNvSpPr/>
          <p:nvPr/>
        </p:nvSpPr>
        <p:spPr>
          <a:xfrm>
            <a:off x="457200" y="355600"/>
            <a:ext cx="82296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Segoe UI"/>
              </a:rPr>
              <a:t>E-Learning Market is Booming</a:t>
            </a:r>
          </a:p>
        </p:txBody>
      </p:sp>
      <p:sp>
        <p:nvSpPr>
          <p:cNvPr id="20" name="DriversHeader"/>
          <p:cNvSpPr/>
          <p:nvPr/>
        </p:nvSpPr>
        <p:spPr>
          <a:xfrm>
            <a:off x="4723941" y="1001221"/>
            <a:ext cx="4064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00000"/>
                </a:solidFill>
                <a:latin typeface="Segoe UI"/>
              </a:rPr>
              <a:t>Why It's Growing</a:t>
            </a:r>
          </a:p>
        </p:txBody>
      </p:sp>
      <p:sp>
        <p:nvSpPr>
          <p:cNvPr id="30" name="Dot0"/>
          <p:cNvSpPr/>
          <p:nvPr/>
        </p:nvSpPr>
        <p:spPr>
          <a:xfrm>
            <a:off x="4762500" y="1498600"/>
            <a:ext cx="101600" cy="101600"/>
          </a:xfrm>
          <a:prstGeom prst="ellipse">
            <a:avLst/>
          </a:prstGeom>
          <a:solidFill>
            <a:srgbClr val="4950B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" name="Driver0"/>
          <p:cNvSpPr/>
          <p:nvPr/>
        </p:nvSpPr>
        <p:spPr>
          <a:xfrm>
            <a:off x="4914900" y="1422400"/>
            <a:ext cx="39370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0000"/>
                </a:solidFill>
                <a:latin typeface="Segoe UI"/>
              </a:rPr>
              <a:t>AI Integration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272525"/>
                </a:solidFill>
                <a:latin typeface="Segoe UI"/>
              </a:rPr>
              <a:t>60% of teachers use AI; adaptive learning platforms growing 41% YoY</a:t>
            </a:r>
          </a:p>
        </p:txBody>
      </p:sp>
      <p:sp>
        <p:nvSpPr>
          <p:cNvPr id="31" name="Dot1"/>
          <p:cNvSpPr/>
          <p:nvPr/>
        </p:nvSpPr>
        <p:spPr>
          <a:xfrm>
            <a:off x="4762500" y="2362200"/>
            <a:ext cx="101600" cy="101600"/>
          </a:xfrm>
          <a:prstGeom prst="ellipse">
            <a:avLst/>
          </a:prstGeom>
          <a:solidFill>
            <a:srgbClr val="4950B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" name="Driver1"/>
          <p:cNvSpPr/>
          <p:nvPr/>
        </p:nvSpPr>
        <p:spPr>
          <a:xfrm>
            <a:off x="4914900" y="2286000"/>
            <a:ext cx="39370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0000"/>
                </a:solidFill>
                <a:latin typeface="Segoe UI"/>
              </a:rPr>
              <a:t>Remote Work Shift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272525"/>
                </a:solidFill>
                <a:latin typeface="Segoe UI"/>
              </a:rPr>
              <a:t>Corporate e-learning demand surging as 60% of workforce needs reskilling</a:t>
            </a:r>
          </a:p>
        </p:txBody>
      </p:sp>
      <p:sp>
        <p:nvSpPr>
          <p:cNvPr id="32" name="Dot2"/>
          <p:cNvSpPr/>
          <p:nvPr/>
        </p:nvSpPr>
        <p:spPr>
          <a:xfrm>
            <a:off x="4762500" y="3225800"/>
            <a:ext cx="101600" cy="101600"/>
          </a:xfrm>
          <a:prstGeom prst="ellipse">
            <a:avLst/>
          </a:prstGeom>
          <a:solidFill>
            <a:srgbClr val="4950B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Driver2"/>
          <p:cNvSpPr/>
          <p:nvPr/>
        </p:nvSpPr>
        <p:spPr>
          <a:xfrm>
            <a:off x="4914900" y="3149600"/>
            <a:ext cx="39370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0000"/>
                </a:solidFill>
                <a:latin typeface="Segoe UI"/>
              </a:rPr>
              <a:t>Mobile Access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272525"/>
                </a:solidFill>
                <a:latin typeface="Segoe UI"/>
              </a:rPr>
              <a:t>Smartphone-first learning in Asia-Pacific driving fastest regional growth</a:t>
            </a:r>
          </a:p>
        </p:txBody>
      </p:sp>
      <p:sp>
        <p:nvSpPr>
          <p:cNvPr id="33" name="Dot3"/>
          <p:cNvSpPr/>
          <p:nvPr/>
        </p:nvSpPr>
        <p:spPr>
          <a:xfrm>
            <a:off x="4762500" y="4089400"/>
            <a:ext cx="101600" cy="101600"/>
          </a:xfrm>
          <a:prstGeom prst="ellipse">
            <a:avLst/>
          </a:prstGeom>
          <a:solidFill>
            <a:srgbClr val="4950B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Driver3"/>
          <p:cNvSpPr/>
          <p:nvPr/>
        </p:nvSpPr>
        <p:spPr>
          <a:xfrm>
            <a:off x="4914900" y="4013200"/>
            <a:ext cx="39370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0000"/>
                </a:solidFill>
                <a:latin typeface="Segoe UI"/>
              </a:rPr>
              <a:t>Cost Advantage</a:t>
            </a:r>
          </a:p>
          <a:p>
            <a:pPr marL="0" indent="0">
              <a:buNone/>
            </a:pPr>
            <a:r>
              <a:rPr lang="en-US" sz="1350" dirty="0">
                <a:solidFill>
                  <a:srgbClr val="272525"/>
                </a:solidFill>
                <a:latin typeface="Segoe UI"/>
              </a:rPr>
              <a:t>Online courses up to 50-70% cheaper than traditional education</a:t>
            </a:r>
          </a:p>
        </p:txBody>
      </p:sp>
      <p:sp>
        <p:nvSpPr>
          <p:cNvPr id="50" name="Source"/>
          <p:cNvSpPr/>
          <p:nvPr/>
        </p:nvSpPr>
        <p:spPr>
          <a:xfrm>
            <a:off x="457200" y="4927600"/>
            <a:ext cx="82296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72525"/>
                </a:solidFill>
                <a:latin typeface="Segoe UI"/>
              </a:rPr>
              <a:t>Source: Grand View Research, IMARC Group, Straits Research (2024-2025)</a:t>
            </a:r>
          </a:p>
        </p:txBody>
      </p:sp>
      <p:graphicFrame>
        <p:nvGraphicFramePr>
          <p:cNvPr id="200" name="Market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337216"/>
              </p:ext>
            </p:extLst>
          </p:nvPr>
        </p:nvGraphicFramePr>
        <p:xfrm>
          <a:off x="317500" y="990600"/>
          <a:ext cx="41275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80468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49902" y="186363"/>
            <a:ext cx="2560704" cy="44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2594"/>
              </a:lnSpc>
            </a:pPr>
            <a:r>
              <a:rPr lang="en-US" sz="3000" b="1" dirty="0">
                <a:solidFill>
                  <a:srgbClr val="000000"/>
                </a:solidFill>
                <a:latin typeface="Segoe UI" pitchFamily="34"/>
              </a:rPr>
              <a:t>The Problem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3661120" y="769968"/>
            <a:ext cx="4976961" cy="463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156"/>
              </a:lnSpc>
            </a:pPr>
            <a:r>
              <a:rPr lang="en-US" sz="1000" dirty="0">
                <a:solidFill>
                  <a:srgbClr val="272525"/>
                </a:solidFill>
                <a:latin typeface="Segoe UI" pitchFamily="34"/>
              </a:rPr>
              <a:t>Universities offer a wide range of courses, but students struggle to find courses that truly match their interests, background, and career goals. </a:t>
            </a:r>
          </a:p>
          <a:p>
            <a:pPr>
              <a:lnSpc>
                <a:spcPts val="1156"/>
              </a:lnSpc>
            </a:pPr>
            <a:r>
              <a:rPr lang="en-US" sz="1000" dirty="0">
                <a:solidFill>
                  <a:srgbClr val="272525"/>
                </a:solidFill>
                <a:latin typeface="Segoe UI" pitchFamily="34"/>
              </a:rPr>
              <a:t>Traditional keyword search fails to capture real intent.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739829" y="1530346"/>
            <a:ext cx="5060357" cy="583927"/>
          </a:xfrm>
          <a:prstGeom prst="roundRect">
            <a:avLst>
              <a:gd name="adj" fmla="val 758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6" name="Text 3"/>
          <p:cNvSpPr/>
          <p:nvPr/>
        </p:nvSpPr>
        <p:spPr>
          <a:xfrm>
            <a:off x="3860268" y="1640553"/>
            <a:ext cx="1423463" cy="169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1281"/>
              </a:lnSpc>
            </a:pPr>
            <a:r>
              <a:rPr lang="en-US" sz="1575" b="1" dirty="0">
                <a:solidFill>
                  <a:srgbClr val="000000"/>
                </a:solidFill>
                <a:latin typeface="Segoe UI" pitchFamily="34"/>
              </a:rPr>
              <a:t>🔍</a:t>
            </a:r>
            <a:r>
              <a:rPr lang="en-US" sz="1575" b="1" dirty="0">
                <a:solidFill>
                  <a:srgbClr val="272525"/>
                </a:solidFill>
                <a:latin typeface="Segoe UI" pitchFamily="34"/>
              </a:rPr>
              <a:t> Intent Mismatch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3858349" y="1856092"/>
            <a:ext cx="5137070" cy="1470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>
              <a:lnSpc>
                <a:spcPts val="1156"/>
              </a:lnSpc>
            </a:pPr>
            <a:r>
              <a:rPr lang="en-US" sz="1220" dirty="0">
                <a:solidFill>
                  <a:srgbClr val="272525"/>
                </a:solidFill>
                <a:latin typeface="Segoe UI" pitchFamily="34"/>
              </a:rPr>
              <a:t>Students describe learning interests in natural language — not course names or catalog codes.</a:t>
            </a:r>
            <a:endParaRPr lang="en-US" sz="1220" dirty="0"/>
          </a:p>
        </p:txBody>
      </p:sp>
      <p:sp>
        <p:nvSpPr>
          <p:cNvPr id="8" name="Shape 5"/>
          <p:cNvSpPr/>
          <p:nvPr/>
        </p:nvSpPr>
        <p:spPr>
          <a:xfrm>
            <a:off x="3748142" y="2192632"/>
            <a:ext cx="5052044" cy="730969"/>
          </a:xfrm>
          <a:prstGeom prst="roundRect">
            <a:avLst>
              <a:gd name="adj" fmla="val 605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9" name="Text 6"/>
          <p:cNvSpPr/>
          <p:nvPr/>
        </p:nvSpPr>
        <p:spPr>
          <a:xfrm>
            <a:off x="3866662" y="2302838"/>
            <a:ext cx="1805769" cy="169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>
              <a:lnSpc>
                <a:spcPts val="1281"/>
              </a:lnSpc>
            </a:pPr>
            <a:r>
              <a:rPr lang="en-US" sz="1547" b="1" dirty="0">
                <a:solidFill>
                  <a:srgbClr val="000000"/>
                </a:solidFill>
                <a:latin typeface="Segoe UI" pitchFamily="34"/>
              </a:rPr>
              <a:t>📋</a:t>
            </a:r>
            <a:r>
              <a:rPr lang="en-US" sz="1547" b="1" dirty="0">
                <a:solidFill>
                  <a:srgbClr val="272525"/>
                </a:solidFill>
                <a:latin typeface="Segoe UI" pitchFamily="34"/>
              </a:rPr>
              <a:t> Prerequisite Confusion</a:t>
            </a:r>
            <a:endParaRPr lang="en-US" sz="1547" dirty="0"/>
          </a:p>
        </p:txBody>
      </p:sp>
      <p:sp>
        <p:nvSpPr>
          <p:cNvPr id="10" name="Text 7"/>
          <p:cNvSpPr/>
          <p:nvPr/>
        </p:nvSpPr>
        <p:spPr>
          <a:xfrm>
            <a:off x="4006930" y="2493801"/>
            <a:ext cx="5137070" cy="294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>
              <a:lnSpc>
                <a:spcPts val="1156"/>
              </a:lnSpc>
            </a:pPr>
            <a:r>
              <a:rPr lang="en-US" sz="1220" dirty="0">
                <a:solidFill>
                  <a:srgbClr val="272525"/>
                </a:solidFill>
                <a:latin typeface="Segoe UI" pitchFamily="34"/>
              </a:rPr>
              <a:t>Understanding prerequisite relationships and identifying knowledge gaps </a:t>
            </a:r>
          </a:p>
          <a:p>
            <a:pPr>
              <a:lnSpc>
                <a:spcPts val="1156"/>
              </a:lnSpc>
            </a:pPr>
            <a:r>
              <a:rPr lang="en-US" sz="1220" dirty="0">
                <a:solidFill>
                  <a:srgbClr val="272525"/>
                </a:solidFill>
                <a:latin typeface="Segoe UI" pitchFamily="34"/>
              </a:rPr>
              <a:t>before advanced courses.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3748142" y="3001959"/>
            <a:ext cx="5052044" cy="730969"/>
          </a:xfrm>
          <a:prstGeom prst="roundRect">
            <a:avLst>
              <a:gd name="adj" fmla="val 605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2" name="Text 9"/>
          <p:cNvSpPr/>
          <p:nvPr/>
        </p:nvSpPr>
        <p:spPr>
          <a:xfrm>
            <a:off x="3858349" y="3122097"/>
            <a:ext cx="1423463" cy="169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>
              <a:lnSpc>
                <a:spcPts val="1281"/>
              </a:lnSpc>
            </a:pPr>
            <a:r>
              <a:rPr lang="en-US" sz="1547" b="1" dirty="0">
                <a:solidFill>
                  <a:srgbClr val="000000"/>
                </a:solidFill>
                <a:latin typeface="Segoe UI" pitchFamily="34"/>
              </a:rPr>
              <a:t>🗺️</a:t>
            </a:r>
            <a:r>
              <a:rPr lang="en-US" sz="1547" b="1" dirty="0">
                <a:solidFill>
                  <a:srgbClr val="272525"/>
                </a:solidFill>
                <a:latin typeface="Segoe UI" pitchFamily="34"/>
              </a:rPr>
              <a:t> Path Discovery</a:t>
            </a:r>
            <a:endParaRPr lang="en-US" sz="1547" dirty="0"/>
          </a:p>
        </p:txBody>
      </p:sp>
      <p:sp>
        <p:nvSpPr>
          <p:cNvPr id="13" name="Text 10"/>
          <p:cNvSpPr/>
          <p:nvPr/>
        </p:nvSpPr>
        <p:spPr>
          <a:xfrm>
            <a:off x="3908227" y="3405857"/>
            <a:ext cx="5137070" cy="294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>
              <a:lnSpc>
                <a:spcPts val="1156"/>
              </a:lnSpc>
            </a:pPr>
            <a:r>
              <a:rPr lang="en-US" sz="1220" dirty="0">
                <a:solidFill>
                  <a:srgbClr val="272525"/>
                </a:solidFill>
                <a:latin typeface="Segoe UI" pitchFamily="34"/>
              </a:rPr>
              <a:t>Discovering structured learning paths and career-aligned course sequences is nearly impossible.</a:t>
            </a:r>
            <a:endParaRPr lang="en-US" sz="1220" dirty="0"/>
          </a:p>
        </p:txBody>
      </p:sp>
      <p:sp>
        <p:nvSpPr>
          <p:cNvPr id="14" name="Shape 11"/>
          <p:cNvSpPr/>
          <p:nvPr/>
        </p:nvSpPr>
        <p:spPr>
          <a:xfrm>
            <a:off x="3748141" y="3838373"/>
            <a:ext cx="5052045" cy="730969"/>
          </a:xfrm>
          <a:prstGeom prst="roundRect">
            <a:avLst>
              <a:gd name="adj" fmla="val 605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5" name="Text 12"/>
          <p:cNvSpPr/>
          <p:nvPr/>
        </p:nvSpPr>
        <p:spPr>
          <a:xfrm>
            <a:off x="3853084" y="3938904"/>
            <a:ext cx="1423463" cy="1694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>
              <a:lnSpc>
                <a:spcPts val="1281"/>
              </a:lnSpc>
            </a:pPr>
            <a:r>
              <a:rPr lang="en-US" sz="1547" b="1" dirty="0">
                <a:solidFill>
                  <a:srgbClr val="000000"/>
                </a:solidFill>
                <a:latin typeface="Segoe UI" pitchFamily="34"/>
              </a:rPr>
              <a:t>📂</a:t>
            </a:r>
            <a:r>
              <a:rPr lang="en-US" sz="1547" b="1" dirty="0">
                <a:solidFill>
                  <a:srgbClr val="272525"/>
                </a:solidFill>
                <a:latin typeface="Segoe UI" pitchFamily="34"/>
              </a:rPr>
              <a:t> Fragmented Info</a:t>
            </a:r>
            <a:endParaRPr lang="en-US" sz="1547" dirty="0"/>
          </a:p>
        </p:txBody>
      </p:sp>
      <p:sp>
        <p:nvSpPr>
          <p:cNvPr id="16" name="Text 13"/>
          <p:cNvSpPr/>
          <p:nvPr/>
        </p:nvSpPr>
        <p:spPr>
          <a:xfrm>
            <a:off x="3885393" y="4237428"/>
            <a:ext cx="5137070" cy="294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>
              <a:lnSpc>
                <a:spcPts val="1156"/>
              </a:lnSpc>
            </a:pPr>
            <a:r>
              <a:rPr lang="en-US" sz="1220" dirty="0">
                <a:solidFill>
                  <a:srgbClr val="272525"/>
                </a:solidFill>
                <a:latin typeface="Segoe UI" pitchFamily="34"/>
              </a:rPr>
              <a:t>Course info is spread across multiple formats — catalogs, advising guides, and department docs.</a:t>
            </a:r>
            <a:endParaRPr lang="en-US" sz="1220" dirty="0"/>
          </a:p>
        </p:txBody>
      </p:sp>
    </p:spTree>
    <p:extLst>
      <p:ext uri="{BB962C8B-B14F-4D97-AF65-F5344CB8AC3E}">
        <p14:creationId xmlns:p14="http://schemas.microsoft.com/office/powerpoint/2010/main" val="636252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5294"/>
            <a:ext cx="7240861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38"/>
              </a:lnSpc>
            </a:pPr>
            <a:r>
              <a:rPr lang="en-US" sz="2344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Project Positioning — PoC Complete + PoB Partial</a:t>
            </a:r>
            <a:endParaRPr lang="en-US" sz="2344" dirty="0"/>
          </a:p>
        </p:txBody>
      </p:sp>
      <p:sp>
        <p:nvSpPr>
          <p:cNvPr id="3" name="Text 1"/>
          <p:cNvSpPr/>
          <p:nvPr/>
        </p:nvSpPr>
        <p:spPr>
          <a:xfrm>
            <a:off x="496119" y="1026616"/>
            <a:ext cx="8151763" cy="356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938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This project successfully demonstrates </a:t>
            </a:r>
            <a:r>
              <a:rPr lang="en-US" sz="938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technology feasibility</a:t>
            </a:r>
            <a:r>
              <a:rPr lang="en-US" sz="938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(PoC), but stops short of full Proof of Business — and for good reason. Three structural barriers make a complete PoB premature at this stage.</a:t>
            </a:r>
            <a:endParaRPr lang="en-US" sz="938" dirty="0"/>
          </a:p>
        </p:txBody>
      </p:sp>
      <p:sp>
        <p:nvSpPr>
          <p:cNvPr id="4" name="Shape 2"/>
          <p:cNvSpPr/>
          <p:nvPr/>
        </p:nvSpPr>
        <p:spPr>
          <a:xfrm>
            <a:off x="496119" y="1613594"/>
            <a:ext cx="3928914" cy="921544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sz="1125"/>
          </a:p>
        </p:txBody>
      </p:sp>
      <p:sp>
        <p:nvSpPr>
          <p:cNvPr id="5" name="Shape 3"/>
          <p:cNvSpPr/>
          <p:nvPr/>
        </p:nvSpPr>
        <p:spPr>
          <a:xfrm>
            <a:off x="481831" y="1613594"/>
            <a:ext cx="57150" cy="921544"/>
          </a:xfrm>
          <a:prstGeom prst="roundRect">
            <a:avLst>
              <a:gd name="adj" fmla="val 8855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 sz="1125"/>
          </a:p>
        </p:txBody>
      </p:sp>
      <p:sp>
        <p:nvSpPr>
          <p:cNvPr id="6" name="Text 4"/>
          <p:cNvSpPr/>
          <p:nvPr/>
        </p:nvSpPr>
        <p:spPr>
          <a:xfrm>
            <a:off x="673745" y="1748358"/>
            <a:ext cx="1506215" cy="19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9"/>
              </a:lnSpc>
            </a:pPr>
            <a:r>
              <a:rPr lang="en-US" sz="1156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🧱</a:t>
            </a:r>
            <a:r>
              <a:rPr lang="en-US" sz="1156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Data Quality Wall</a:t>
            </a:r>
            <a:endParaRPr lang="en-US" sz="1156" dirty="0"/>
          </a:p>
        </p:txBody>
      </p:sp>
      <p:sp>
        <p:nvSpPr>
          <p:cNvPr id="7" name="Text 5"/>
          <p:cNvSpPr/>
          <p:nvPr/>
        </p:nvSpPr>
        <p:spPr>
          <a:xfrm>
            <a:off x="673745" y="2043782"/>
            <a:ext cx="3616524" cy="356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938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Course descriptions are only a few sentences long — too short for precise, reliable skill-to-course matching.</a:t>
            </a:r>
            <a:endParaRPr lang="en-US" sz="938" dirty="0"/>
          </a:p>
        </p:txBody>
      </p:sp>
      <p:sp>
        <p:nvSpPr>
          <p:cNvPr id="8" name="Shape 6"/>
          <p:cNvSpPr/>
          <p:nvPr/>
        </p:nvSpPr>
        <p:spPr>
          <a:xfrm>
            <a:off x="496119" y="2637532"/>
            <a:ext cx="3928914" cy="921544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sz="1125"/>
          </a:p>
        </p:txBody>
      </p:sp>
      <p:sp>
        <p:nvSpPr>
          <p:cNvPr id="9" name="Shape 7"/>
          <p:cNvSpPr/>
          <p:nvPr/>
        </p:nvSpPr>
        <p:spPr>
          <a:xfrm>
            <a:off x="481831" y="2637532"/>
            <a:ext cx="57150" cy="921544"/>
          </a:xfrm>
          <a:prstGeom prst="roundRect">
            <a:avLst>
              <a:gd name="adj" fmla="val 8855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 sz="1125"/>
          </a:p>
        </p:txBody>
      </p:sp>
      <p:sp>
        <p:nvSpPr>
          <p:cNvPr id="10" name="Text 8"/>
          <p:cNvSpPr/>
          <p:nvPr/>
        </p:nvSpPr>
        <p:spPr>
          <a:xfrm>
            <a:off x="673745" y="2772296"/>
            <a:ext cx="1846139" cy="19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9"/>
              </a:lnSpc>
            </a:pPr>
            <a:r>
              <a:rPr lang="en-US" sz="1156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🎯</a:t>
            </a:r>
            <a:r>
              <a:rPr lang="en-US" sz="1156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Ground Truth Problem</a:t>
            </a:r>
            <a:endParaRPr lang="en-US" sz="1156" dirty="0"/>
          </a:p>
        </p:txBody>
      </p:sp>
      <p:sp>
        <p:nvSpPr>
          <p:cNvPr id="11" name="Text 9"/>
          <p:cNvSpPr/>
          <p:nvPr/>
        </p:nvSpPr>
        <p:spPr>
          <a:xfrm>
            <a:off x="673745" y="3067720"/>
            <a:ext cx="3616524" cy="356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938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38 test cases are DB-query-derived, not human-validated. Even the developer cannot confidently label the "right" course.</a:t>
            </a:r>
            <a:endParaRPr lang="en-US" sz="938" dirty="0"/>
          </a:p>
        </p:txBody>
      </p:sp>
      <p:sp>
        <p:nvSpPr>
          <p:cNvPr id="12" name="Shape 10"/>
          <p:cNvSpPr/>
          <p:nvPr/>
        </p:nvSpPr>
        <p:spPr>
          <a:xfrm>
            <a:off x="496119" y="3661469"/>
            <a:ext cx="3928914" cy="921544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sz="1125"/>
          </a:p>
        </p:txBody>
      </p:sp>
      <p:sp>
        <p:nvSpPr>
          <p:cNvPr id="13" name="Shape 11"/>
          <p:cNvSpPr/>
          <p:nvPr/>
        </p:nvSpPr>
        <p:spPr>
          <a:xfrm>
            <a:off x="481831" y="3661469"/>
            <a:ext cx="57150" cy="921544"/>
          </a:xfrm>
          <a:prstGeom prst="roundRect">
            <a:avLst>
              <a:gd name="adj" fmla="val 8855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 sz="1125"/>
          </a:p>
        </p:txBody>
      </p:sp>
      <p:sp>
        <p:nvSpPr>
          <p:cNvPr id="14" name="Text 12"/>
          <p:cNvSpPr/>
          <p:nvPr/>
        </p:nvSpPr>
        <p:spPr>
          <a:xfrm>
            <a:off x="673745" y="3796233"/>
            <a:ext cx="1538362" cy="19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9"/>
              </a:lnSpc>
            </a:pPr>
            <a:r>
              <a:rPr lang="en-US" sz="1156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👤</a:t>
            </a:r>
            <a:r>
              <a:rPr lang="en-US" sz="1156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No Real User Data</a:t>
            </a:r>
            <a:endParaRPr lang="en-US" sz="1156" dirty="0"/>
          </a:p>
        </p:txBody>
      </p:sp>
      <p:sp>
        <p:nvSpPr>
          <p:cNvPr id="15" name="Text 13"/>
          <p:cNvSpPr/>
          <p:nvPr/>
        </p:nvSpPr>
        <p:spPr>
          <a:xfrm>
            <a:off x="673745" y="4091657"/>
            <a:ext cx="3616524" cy="356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938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Solo development means a sample size of one. Personalization cannot be validated without real users in the system.</a:t>
            </a:r>
            <a:endParaRPr lang="en-US" sz="938" dirty="0"/>
          </a:p>
        </p:txBody>
      </p:sp>
      <p:sp>
        <p:nvSpPr>
          <p:cNvPr id="16" name="Shape 14"/>
          <p:cNvSpPr/>
          <p:nvPr/>
        </p:nvSpPr>
        <p:spPr>
          <a:xfrm>
            <a:off x="4733255" y="2372841"/>
            <a:ext cx="3928914" cy="1288628"/>
          </a:xfrm>
          <a:prstGeom prst="roundRect">
            <a:avLst>
              <a:gd name="adj" fmla="val 3928"/>
            </a:avLst>
          </a:prstGeom>
          <a:solidFill>
            <a:srgbClr val="C7C9EA"/>
          </a:solidFill>
          <a:ln/>
        </p:spPr>
        <p:txBody>
          <a:bodyPr/>
          <a:lstStyle/>
          <a:p>
            <a:endParaRPr lang="en-US" sz="1125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207" y="2592884"/>
            <a:ext cx="188268" cy="15061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52951" y="2577034"/>
            <a:ext cx="1933426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69"/>
              </a:lnSpc>
            </a:pPr>
            <a:r>
              <a:rPr lang="en-US" sz="1156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Why This Framing Matters</a:t>
            </a:r>
            <a:endParaRPr lang="en-US" sz="1156" dirty="0"/>
          </a:p>
        </p:txBody>
      </p:sp>
      <p:sp>
        <p:nvSpPr>
          <p:cNvPr id="19" name="Text 16"/>
          <p:cNvSpPr/>
          <p:nvPr/>
        </p:nvSpPr>
        <p:spPr>
          <a:xfrm>
            <a:off x="5152951" y="2867696"/>
            <a:ext cx="337921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75"/>
              </a:lnSpc>
            </a:pPr>
            <a:r>
              <a:rPr lang="en-US" sz="938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Acknowledging these gaps is a sign of rigor — not weakness. Claiming full PoB prematurely would undermine credibility when the system is stress-tested against real-world data.</a:t>
            </a:r>
            <a:endParaRPr lang="en-US" sz="938" dirty="0"/>
          </a:p>
        </p:txBody>
      </p:sp>
    </p:spTree>
    <p:extLst>
      <p:ext uri="{BB962C8B-B14F-4D97-AF65-F5344CB8AC3E}">
        <p14:creationId xmlns:p14="http://schemas.microsoft.com/office/powerpoint/2010/main" val="1426088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92100" y="1668780"/>
            <a:ext cx="8559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4950BC"/>
                </a:solidFill>
                <a:latin typeface="Segoe UI" pitchFamily="34" charset="0"/>
              </a:rPr>
              <a:t>Demo</a:t>
            </a:r>
            <a:endParaRPr lang="en-US" sz="7800" dirty="0"/>
          </a:p>
        </p:txBody>
      </p:sp>
      <p:sp>
        <p:nvSpPr>
          <p:cNvPr id="4" name="Shape 2"/>
          <p:cNvSpPr/>
          <p:nvPr/>
        </p:nvSpPr>
        <p:spPr>
          <a:xfrm>
            <a:off x="3840480" y="2926080"/>
            <a:ext cx="1463040" cy="36576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 fontScale="2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86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AE25C-E6F8-50A0-8A7C-CB8133F58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A442769-B35E-046E-F9CA-5E3654A4EEA2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387B3B-1ACD-320B-8E2A-C90B42183959}"/>
              </a:ext>
            </a:extLst>
          </p:cNvPr>
          <p:cNvSpPr/>
          <p:nvPr/>
        </p:nvSpPr>
        <p:spPr>
          <a:xfrm>
            <a:off x="222096" y="1645920"/>
            <a:ext cx="8559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4950BC"/>
                </a:solidFill>
                <a:latin typeface="Segoe UI" pitchFamily="34" charset="0"/>
              </a:rPr>
              <a:t>Architecture</a:t>
            </a:r>
            <a:endParaRPr lang="en-US" sz="7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38A180D-BC6D-0C6D-C24A-A101971A8DBC}"/>
              </a:ext>
            </a:extLst>
          </p:cNvPr>
          <p:cNvSpPr/>
          <p:nvPr/>
        </p:nvSpPr>
        <p:spPr>
          <a:xfrm>
            <a:off x="3840480" y="2926080"/>
            <a:ext cx="1463040" cy="36576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A4F1E42-5639-1563-F53F-9E60715628B7}"/>
              </a:ext>
            </a:extLst>
          </p:cNvPr>
          <p:cNvSpPr/>
          <p:nvPr/>
        </p:nvSpPr>
        <p:spPr>
          <a:xfrm>
            <a:off x="621792" y="325755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700" dirty="0">
                <a:solidFill>
                  <a:srgbClr val="272525"/>
                </a:solidFill>
                <a:latin typeface="Segoe UI" pitchFamily="34" charset="0"/>
              </a:rPr>
              <a:t>Explain by Architecture.pdf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3679039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7052" y="669561"/>
            <a:ext cx="4520383" cy="4206279"/>
          </a:xfrm>
          <a:prstGeom prst="roundRect">
            <a:avLst>
              <a:gd name="adj" fmla="val 2296"/>
            </a:avLst>
          </a:prstGeom>
          <a:solidFill>
            <a:srgbClr val="1A1A2E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2" name="Text 0"/>
          <p:cNvSpPr/>
          <p:nvPr/>
        </p:nvSpPr>
        <p:spPr>
          <a:xfrm>
            <a:off x="292129" y="216229"/>
            <a:ext cx="2951726" cy="3189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>
              <a:lnSpc>
                <a:spcPts val="2500"/>
              </a:lnSpc>
            </a:pPr>
            <a:r>
              <a:rPr lang="en-US" sz="3000" b="1" dirty="0">
                <a:solidFill>
                  <a:srgbClr val="000000"/>
                </a:solidFill>
                <a:latin typeface="Segoe UI" pitchFamily="34"/>
              </a:rPr>
              <a:t>System Requirements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94150" y="897282"/>
            <a:ext cx="763414" cy="173459"/>
          </a:xfrm>
          <a:prstGeom prst="roundRect">
            <a:avLst>
              <a:gd name="adj" fmla="val 19772"/>
            </a:avLst>
          </a:prstGeom>
          <a:solidFill>
            <a:srgbClr val="151738"/>
          </a:solidFill>
          <a:ln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5393" y="927866"/>
            <a:ext cx="692202" cy="1122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875"/>
              </a:lnSpc>
            </a:pPr>
            <a:r>
              <a:rPr lang="en-US" dirty="0">
                <a:solidFill>
                  <a:srgbClr val="FFFFFF"/>
                </a:solidFill>
                <a:latin typeface="Segoe UI" pitchFamily="34"/>
              </a:rPr>
              <a:t>REQUIREMENT 1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8576" y="1156076"/>
            <a:ext cx="1377976" cy="159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250"/>
              </a:lnSpc>
            </a:pPr>
            <a:r>
              <a:rPr lang="en-US" b="1" dirty="0">
                <a:solidFill>
                  <a:srgbClr val="FFFFFF"/>
                </a:solidFill>
                <a:latin typeface="Segoe UI" pitchFamily="34"/>
              </a:rPr>
              <a:t>Basic Tier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86085" y="1672744"/>
            <a:ext cx="50974" cy="50974"/>
          </a:xfrm>
          <a:prstGeom prst="roundRect">
            <a:avLst>
              <a:gd name="adj" fmla="val 560583"/>
            </a:avLst>
          </a:prstGeom>
          <a:solidFill>
            <a:srgbClr val="4950BC"/>
          </a:solidFill>
          <a:ln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0714" y="1668432"/>
            <a:ext cx="3472827" cy="361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094"/>
              </a:lnSpc>
            </a:pPr>
            <a:r>
              <a:rPr lang="en-US" dirty="0">
                <a:solidFill>
                  <a:srgbClr val="FFFFFF"/>
                </a:solidFill>
                <a:latin typeface="Segoe UI" pitchFamily="34"/>
              </a:rPr>
              <a:t>Basic RAG for course discovery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269459" y="1969751"/>
            <a:ext cx="50974" cy="50974"/>
          </a:xfrm>
          <a:prstGeom prst="roundRect">
            <a:avLst>
              <a:gd name="adj" fmla="val 560583"/>
            </a:avLst>
          </a:prstGeom>
          <a:solidFill>
            <a:srgbClr val="4950BC"/>
          </a:solidFill>
          <a:ln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293" y="1941981"/>
            <a:ext cx="3472827" cy="14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094"/>
              </a:lnSpc>
            </a:pPr>
            <a:r>
              <a:rPr lang="en-US" dirty="0">
                <a:solidFill>
                  <a:srgbClr val="FFFFFF"/>
                </a:solidFill>
                <a:latin typeface="Segoe UI" pitchFamily="34"/>
              </a:rPr>
              <a:t>Intent-based semantic search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77936" y="2257139"/>
            <a:ext cx="50974" cy="50974"/>
          </a:xfrm>
          <a:prstGeom prst="roundRect">
            <a:avLst>
              <a:gd name="adj" fmla="val 560583"/>
            </a:avLst>
          </a:prstGeom>
          <a:solidFill>
            <a:srgbClr val="4950BC"/>
          </a:solidFill>
          <a:ln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0713" y="2247116"/>
            <a:ext cx="3472827" cy="14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094"/>
              </a:lnSpc>
            </a:pPr>
            <a:r>
              <a:rPr lang="en-US" dirty="0">
                <a:solidFill>
                  <a:srgbClr val="FFFFFF"/>
                </a:solidFill>
                <a:latin typeface="Segoe UI" pitchFamily="34"/>
              </a:rPr>
              <a:t>Simple recommendation agent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77936" y="2585388"/>
            <a:ext cx="50974" cy="50974"/>
          </a:xfrm>
          <a:prstGeom prst="roundRect">
            <a:avLst>
              <a:gd name="adj" fmla="val 560583"/>
            </a:avLst>
          </a:prstGeom>
          <a:solidFill>
            <a:srgbClr val="4950BC"/>
          </a:solidFill>
          <a:ln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642" y="2568560"/>
            <a:ext cx="3472827" cy="14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094"/>
              </a:lnSpc>
            </a:pPr>
            <a:r>
              <a:rPr lang="en-US" dirty="0">
                <a:solidFill>
                  <a:srgbClr val="FFFFFF"/>
                </a:solidFill>
                <a:latin typeface="Segoe UI" pitchFamily="34"/>
              </a:rPr>
              <a:t>Skill gap identification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77936" y="2862784"/>
            <a:ext cx="50974" cy="50974"/>
          </a:xfrm>
          <a:prstGeom prst="roundRect">
            <a:avLst>
              <a:gd name="adj" fmla="val 560583"/>
            </a:avLst>
          </a:prstGeom>
          <a:solidFill>
            <a:srgbClr val="4950BC"/>
          </a:solidFill>
          <a:ln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0714" y="2862784"/>
            <a:ext cx="3472827" cy="14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094"/>
              </a:lnSpc>
            </a:pPr>
            <a:r>
              <a:rPr lang="en-US" dirty="0">
                <a:solidFill>
                  <a:srgbClr val="FFFFFF"/>
                </a:solidFill>
                <a:latin typeface="Segoe UI" pitchFamily="34"/>
              </a:rPr>
              <a:t>Difficulty level filtering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77936" y="3159265"/>
            <a:ext cx="50974" cy="50974"/>
          </a:xfrm>
          <a:prstGeom prst="roundRect">
            <a:avLst>
              <a:gd name="adj" fmla="val 560583"/>
            </a:avLst>
          </a:prstGeom>
          <a:solidFill>
            <a:srgbClr val="4950BC"/>
          </a:solidFill>
          <a:ln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0714" y="3158637"/>
            <a:ext cx="3472827" cy="14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094"/>
              </a:lnSpc>
            </a:pPr>
            <a:r>
              <a:rPr lang="en-US" dirty="0">
                <a:solidFill>
                  <a:srgbClr val="FFFFFF"/>
                </a:solidFill>
                <a:latin typeface="Segoe UI" pitchFamily="34"/>
              </a:rPr>
              <a:t>Learning objective validation guardrails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77936" y="3446653"/>
            <a:ext cx="50974" cy="50974"/>
          </a:xfrm>
          <a:prstGeom prst="roundRect">
            <a:avLst>
              <a:gd name="adj" fmla="val 560583"/>
            </a:avLst>
          </a:prstGeom>
          <a:solidFill>
            <a:srgbClr val="4950BC"/>
          </a:solidFill>
          <a:ln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0714" y="3446054"/>
            <a:ext cx="3472827" cy="14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094"/>
              </a:lnSpc>
            </a:pPr>
            <a:r>
              <a:rPr lang="en-US" dirty="0">
                <a:solidFill>
                  <a:srgbClr val="FFFFFF"/>
                </a:solidFill>
                <a:latin typeface="Segoe UI" pitchFamily="34"/>
              </a:rPr>
              <a:t>Basic course sequencing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77936" y="3759528"/>
            <a:ext cx="50974" cy="50974"/>
          </a:xfrm>
          <a:prstGeom prst="roundRect">
            <a:avLst>
              <a:gd name="adj" fmla="val 560583"/>
            </a:avLst>
          </a:prstGeom>
          <a:solidFill>
            <a:srgbClr val="4950BC"/>
          </a:solidFill>
          <a:ln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0714" y="3759528"/>
            <a:ext cx="3472827" cy="14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094"/>
              </a:lnSpc>
            </a:pPr>
            <a:r>
              <a:rPr lang="en-US" dirty="0">
                <a:solidFill>
                  <a:srgbClr val="FFFFFF"/>
                </a:solidFill>
                <a:latin typeface="Segoe UI" pitchFamily="34"/>
              </a:rPr>
              <a:t>Metadata filtering (org, rating, difficulty)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06590" y="4263578"/>
            <a:ext cx="3807716" cy="444937"/>
          </a:xfrm>
          <a:prstGeom prst="roundRect">
            <a:avLst>
              <a:gd name="adj" fmla="val 12030"/>
            </a:avLst>
          </a:prstGeom>
          <a:solidFill>
            <a:srgbClr val="C7C9EA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59" y="3994351"/>
            <a:ext cx="127546" cy="10202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74555" y="4473939"/>
            <a:ext cx="3138901" cy="14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094"/>
              </a:lnSpc>
            </a:pPr>
            <a:r>
              <a:rPr lang="en-US" b="1" dirty="0">
                <a:solidFill>
                  <a:srgbClr val="000000"/>
                </a:solidFill>
                <a:latin typeface="Segoe UI" pitchFamily="34"/>
              </a:rPr>
              <a:t>Expose via API endpoint</a:t>
            </a: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656584" y="1067074"/>
            <a:ext cx="1810718" cy="378962"/>
          </a:xfrm>
          <a:prstGeom prst="roundRect">
            <a:avLst>
              <a:gd name="adj" fmla="val 18743"/>
            </a:avLst>
          </a:prstGeom>
          <a:noFill/>
          <a:ln w="7620">
            <a:solidFill>
              <a:srgbClr val="4950BC"/>
            </a:solidFill>
            <a:prstDash val="solid"/>
          </a:ln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670634" y="869565"/>
            <a:ext cx="2594689" cy="304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875"/>
              </a:lnSpc>
            </a:pPr>
            <a:r>
              <a:rPr lang="en-US" dirty="0">
                <a:solidFill>
                  <a:srgbClr val="4950BC"/>
                </a:solidFill>
                <a:latin typeface="Segoe UI" pitchFamily="34"/>
              </a:rPr>
              <a:t>REQUIREMENT 2</a:t>
            </a: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701256" y="1211195"/>
            <a:ext cx="1766045" cy="2433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250"/>
              </a:lnSpc>
            </a:pPr>
            <a:r>
              <a:rPr lang="en-US" b="1" dirty="0">
                <a:solidFill>
                  <a:srgbClr val="000000"/>
                </a:solidFill>
                <a:latin typeface="Segoe UI" pitchFamily="34"/>
              </a:rPr>
              <a:t>Advanced Tier</a:t>
            </a: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4576566" y="1875246"/>
            <a:ext cx="50974" cy="50974"/>
          </a:xfrm>
          <a:prstGeom prst="roundRect">
            <a:avLst>
              <a:gd name="adj" fmla="val 560583"/>
            </a:avLst>
          </a:prstGeom>
          <a:solidFill>
            <a:srgbClr val="4950BC"/>
          </a:solidFill>
          <a:ln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825677" y="1826058"/>
            <a:ext cx="4426387" cy="2873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094"/>
              </a:lnSpc>
            </a:pPr>
            <a:r>
              <a:rPr lang="en-US" sz="1200" dirty="0">
                <a:solidFill>
                  <a:srgbClr val="272525"/>
                </a:solidFill>
                <a:latin typeface="Segoe UI" pitchFamily="34"/>
              </a:rPr>
              <a:t>DeepEval for recommendation relevance and learning outcomes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576566" y="2162632"/>
            <a:ext cx="50974" cy="50974"/>
          </a:xfrm>
          <a:prstGeom prst="roundRect">
            <a:avLst>
              <a:gd name="adj" fmla="val 560583"/>
            </a:avLst>
          </a:prstGeom>
          <a:solidFill>
            <a:srgbClr val="4950BC"/>
          </a:solidFill>
          <a:ln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825678" y="2106487"/>
            <a:ext cx="3534388" cy="14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094"/>
              </a:lnSpc>
            </a:pPr>
            <a:r>
              <a:rPr lang="en-US" sz="1200" dirty="0">
                <a:solidFill>
                  <a:srgbClr val="272525"/>
                </a:solidFill>
                <a:latin typeface="Segoe UI" pitchFamily="34"/>
              </a:rPr>
              <a:t>Rerank using learner preference models and success rate data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576566" y="2450019"/>
            <a:ext cx="50974" cy="50974"/>
          </a:xfrm>
          <a:prstGeom prst="roundRect">
            <a:avLst>
              <a:gd name="adj" fmla="val 560583"/>
            </a:avLst>
          </a:prstGeom>
          <a:solidFill>
            <a:srgbClr val="4950BC"/>
          </a:solidFill>
          <a:ln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825678" y="2393875"/>
            <a:ext cx="3534388" cy="14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094"/>
              </a:lnSpc>
            </a:pPr>
            <a:r>
              <a:rPr lang="en-US" sz="1200" dirty="0">
                <a:solidFill>
                  <a:srgbClr val="272525"/>
                </a:solidFill>
                <a:latin typeface="Segoe UI" pitchFamily="34"/>
              </a:rPr>
              <a:t>LLM-as-judge for course quality and prerequisite validation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576566" y="2737407"/>
            <a:ext cx="50974" cy="50974"/>
          </a:xfrm>
          <a:prstGeom prst="roundRect">
            <a:avLst>
              <a:gd name="adj" fmla="val 560583"/>
            </a:avLst>
          </a:prstGeom>
          <a:solidFill>
            <a:srgbClr val="4950BC"/>
          </a:solidFill>
          <a:ln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825678" y="2681262"/>
            <a:ext cx="3534388" cy="14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094"/>
              </a:lnSpc>
            </a:pPr>
            <a:r>
              <a:rPr lang="en-US" sz="1200" dirty="0">
                <a:solidFill>
                  <a:srgbClr val="272525"/>
                </a:solidFill>
                <a:latin typeface="Segoe UI" pitchFamily="34"/>
              </a:rPr>
              <a:t>Token optimization for personalized learning path generation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576566" y="3024794"/>
            <a:ext cx="50974" cy="50974"/>
          </a:xfrm>
          <a:prstGeom prst="roundRect">
            <a:avLst>
              <a:gd name="adj" fmla="val 560583"/>
            </a:avLst>
          </a:prstGeom>
          <a:solidFill>
            <a:srgbClr val="4950BC"/>
          </a:solidFill>
          <a:ln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825678" y="2968649"/>
            <a:ext cx="3534388" cy="14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094"/>
              </a:lnSpc>
            </a:pPr>
            <a:r>
              <a:rPr lang="en-US" sz="1200" dirty="0">
                <a:solidFill>
                  <a:srgbClr val="272525"/>
                </a:solidFill>
                <a:latin typeface="Segoe UI" pitchFamily="34"/>
              </a:rPr>
              <a:t>Performance testing: real-time recommendations at scale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576566" y="3312181"/>
            <a:ext cx="50974" cy="50974"/>
          </a:xfrm>
          <a:prstGeom prst="roundRect">
            <a:avLst>
              <a:gd name="adj" fmla="val 560583"/>
            </a:avLst>
          </a:prstGeom>
          <a:solidFill>
            <a:srgbClr val="4950BC"/>
          </a:solidFill>
          <a:ln/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4825678" y="3256036"/>
            <a:ext cx="3534388" cy="1404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1094"/>
              </a:lnSpc>
            </a:pPr>
            <a:r>
              <a:rPr lang="en-US" sz="1200" dirty="0">
                <a:solidFill>
                  <a:srgbClr val="272525"/>
                </a:solidFill>
                <a:latin typeface="Segoe UI" pitchFamily="34"/>
              </a:rPr>
              <a:t>Content appropriateness and prerequisite guardrails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752231" y="4232610"/>
            <a:ext cx="4192264" cy="506871"/>
          </a:xfrm>
          <a:prstGeom prst="roundRect">
            <a:avLst>
              <a:gd name="adj" fmla="val 12030"/>
            </a:avLst>
          </a:prstGeom>
          <a:solidFill>
            <a:srgbClr val="C7C9EA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558" y="4290166"/>
            <a:ext cx="503687" cy="402891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4994925" y="4366072"/>
            <a:ext cx="4024837" cy="252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algn="ctr">
              <a:lnSpc>
                <a:spcPts val="1094"/>
              </a:lnSpc>
            </a:pPr>
            <a:r>
              <a:rPr lang="en-US" b="1" dirty="0">
                <a:solidFill>
                  <a:srgbClr val="000000"/>
                </a:solidFill>
                <a:latin typeface="Segoe UI" pitchFamily="34"/>
              </a:rPr>
              <a:t>Simple front-end UI </a:t>
            </a:r>
          </a:p>
          <a:p>
            <a:pPr algn="ctr">
              <a:lnSpc>
                <a:spcPts val="1094"/>
              </a:lnSpc>
            </a:pPr>
            <a:r>
              <a:rPr lang="en-US" b="1" dirty="0">
                <a:solidFill>
                  <a:srgbClr val="000000"/>
                </a:solidFill>
                <a:latin typeface="Segoe UI" pitchFamily="34"/>
              </a:rPr>
              <a:t>for end-user demonstration</a:t>
            </a:r>
            <a:endParaRPr lang="en-US" dirty="0"/>
          </a:p>
        </p:txBody>
      </p:sp>
      <p:pic>
        <p:nvPicPr>
          <p:cNvPr id="44" name="Image 1" descr="preencoded.png">
            <a:extLst>
              <a:ext uri="{FF2B5EF4-FFF2-40B4-BE49-F238E27FC236}">
                <a16:creationId xmlns:a16="http://schemas.microsoft.com/office/drawing/2014/main" id="{8946B928-8BA4-E630-E292-FE185D967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68" y="4309938"/>
            <a:ext cx="503687" cy="40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006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4950BC"/>
                </a:solidFill>
                <a:latin typeface="Segoe UI" pitchFamily="34" charset="0"/>
              </a:rPr>
              <a:t>EMBEDDING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44004"/>
            <a:ext cx="855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000000"/>
                </a:solidFill>
              </a:rPr>
              <a:t>Topic → Clear Clusters in Embedding Space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5925312" cy="3474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72525"/>
                </a:solidFill>
              </a:rPr>
              <a:t>[Image placeholder]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26480" y="960120"/>
            <a:ext cx="2926080" cy="3474720"/>
          </a:xfrm>
          <a:prstGeom prst="rect">
            <a:avLst/>
          </a:prstGeom>
          <a:solidFill>
            <a:srgbClr val="DADBF1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09360" y="1097280"/>
            <a:ext cx="276514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4950BC"/>
                </a:solidFill>
              </a:rPr>
              <a:t>Embedding input:
</a:t>
            </a:r>
            <a:endParaRPr lang="en-US" sz="1950" dirty="0"/>
          </a:p>
          <a:p>
            <a:pPr marL="0" indent="0">
              <a:buNone/>
            </a:pPr>
            <a:r>
              <a:rPr lang="en-US" sz="1800" dirty="0">
                <a:solidFill>
                  <a:srgbClr val="272525"/>
                </a:solidFill>
              </a:rPr>
              <a:t>title + description only
</a:t>
            </a:r>
            <a:endParaRPr lang="en-US" sz="1950" dirty="0"/>
          </a:p>
          <a:p>
            <a:pPr marL="0" indent="0">
              <a:buNone/>
            </a:pPr>
            <a:r>
              <a:rPr lang="en-US" sz="1950" b="1" dirty="0">
                <a:solidFill>
                  <a:srgbClr val="4950BC"/>
                </a:solidFill>
              </a:rPr>
              <a:t>Result:
</a:t>
            </a:r>
            <a:endParaRPr lang="en-US" sz="1950" dirty="0"/>
          </a:p>
          <a:p>
            <a:pPr marL="0" indent="0">
              <a:buNone/>
            </a:pPr>
            <a:r>
              <a:rPr lang="en-US" sz="1800" dirty="0">
                <a:solidFill>
                  <a:srgbClr val="272525"/>
                </a:solidFill>
              </a:rPr>
              <a:t>Topic/subject clearly captured
by semantic similarity.
</a:t>
            </a:r>
            <a:endParaRPr lang="en-US" sz="1950" dirty="0"/>
          </a:p>
          <a:p>
            <a:pPr marL="0" indent="0">
              <a:buNone/>
            </a:pPr>
            <a:r>
              <a:rPr lang="en-US" sz="1800" dirty="0">
                <a:solidFill>
                  <a:srgbClr val="272525"/>
                </a:solidFill>
              </a:rPr>
              <a:t>Business vs. Tech domains</a:t>
            </a:r>
            <a:endParaRPr lang="en-US" sz="1950" dirty="0"/>
          </a:p>
          <a:p>
            <a:pPr marL="0" indent="0">
              <a:buNone/>
            </a:pPr>
            <a:r>
              <a:rPr lang="en-US" sz="1800" dirty="0">
                <a:solidFill>
                  <a:srgbClr val="272525"/>
                </a:solidFill>
              </a:rPr>
              <a:t>separate cleanly.</a:t>
            </a:r>
            <a:endParaRPr lang="en-US" sz="19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364131-164F-AE1D-8E41-643F140B5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18" y="1190153"/>
            <a:ext cx="5827434" cy="310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243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4950BC"/>
                </a:solidFill>
                <a:latin typeface="Segoe UI" pitchFamily="34" charset="0"/>
              </a:rPr>
              <a:t>EMBEDDING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57106" y="393992"/>
            <a:ext cx="2635134" cy="5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000000"/>
                </a:solidFill>
              </a:rPr>
              <a:t>No Clusters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274320" y="3108960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272525"/>
                </a:solidFill>
              </a:rPr>
              <a:t>Level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200400" y="3108960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272525"/>
                </a:solidFill>
              </a:rPr>
              <a:t>Organization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907024" y="3108960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272525"/>
                </a:solidFill>
              </a:rPr>
              <a:t>Skill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376700" y="3474720"/>
            <a:ext cx="8610056" cy="1371600"/>
          </a:xfrm>
          <a:prstGeom prst="rect">
            <a:avLst/>
          </a:prstGeom>
          <a:solidFill>
            <a:srgbClr val="DADBF1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4200" y="3647074"/>
            <a:ext cx="8285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4950BC"/>
                </a:solidFill>
              </a:rPr>
              <a:t>Why? </a:t>
            </a:r>
          </a:p>
          <a:p>
            <a:pPr marL="0" indent="0">
              <a:buNone/>
            </a:pPr>
            <a:r>
              <a:rPr lang="en-US" sz="1950" dirty="0">
                <a:solidFill>
                  <a:srgbClr val="272525"/>
                </a:solidFill>
              </a:rPr>
              <a:t>Embedding uses title + description only. Level, organization, and granular skills are </a:t>
            </a:r>
            <a:r>
              <a:rPr lang="en-US" sz="1950" b="1" dirty="0">
                <a:solidFill>
                  <a:srgbClr val="4950BC"/>
                </a:solidFill>
              </a:rPr>
              <a:t>not encoded</a:t>
            </a:r>
            <a:r>
              <a:rPr lang="en-US" sz="1950" dirty="0">
                <a:solidFill>
                  <a:srgbClr val="272525"/>
                </a:solidFill>
              </a:rPr>
              <a:t> in the embedding space.
</a:t>
            </a:r>
            <a:r>
              <a:rPr lang="en-US" sz="1950" dirty="0">
                <a:solidFill>
                  <a:srgbClr val="4950BC"/>
                </a:solidFill>
              </a:rPr>
              <a:t>→ These dimensions require payload filters and keyword (BM25) matching.</a:t>
            </a:r>
            <a:endParaRPr lang="en-US" sz="2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A8B5F7A-291F-7CB6-43BD-23F8FF565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00" y="1152651"/>
            <a:ext cx="2962656" cy="19563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359339A-2FE9-F4BA-F936-2EF94C2289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6832" y="1105593"/>
            <a:ext cx="2708747" cy="20248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B00F440-9ABF-8C35-2A6C-E7E77BA672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009" y="1144957"/>
            <a:ext cx="2708747" cy="203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582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4950BC"/>
                </a:solidFill>
                <a:latin typeface="Segoe UI" pitchFamily="34" charset="0"/>
              </a:rPr>
              <a:t>DESIGN DECISION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54202" y="517466"/>
            <a:ext cx="8559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4500" b="1" dirty="0">
                <a:solidFill>
                  <a:srgbClr val="000000"/>
                </a:solidFill>
                <a:latin typeface="Segoe UI" pitchFamily="34" charset="0"/>
              </a:rPr>
              <a:t>Data Analysis → Hybrid Search Design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795528" y="1073463"/>
            <a:ext cx="1185062" cy="2743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950BC"/>
                </a:solidFill>
              </a:rPr>
              <a:t>Dimension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1058833"/>
            <a:ext cx="118506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950BC"/>
                </a:solidFill>
              </a:rPr>
              <a:t>Captured?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942382" y="1042331"/>
            <a:ext cx="110825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950BC"/>
                </a:solidFill>
              </a:rPr>
              <a:t>Evidence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41034" y="1024000"/>
            <a:ext cx="15252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4950BC"/>
                </a:solidFill>
              </a:rPr>
              <a:t>RAG Handling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2700">
            <a:solidFill>
              <a:srgbClr val="DADBF1"/>
            </a:solidFill>
            <a:prstDash val="solid"/>
          </a:ln>
        </p:spPr>
        <p:txBody>
          <a:bodyPr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8229600" cy="594360"/>
          </a:xfrm>
          <a:prstGeom prst="rect">
            <a:avLst/>
          </a:prstGeom>
          <a:solidFill>
            <a:srgbClr val="DADBF1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554480"/>
            <a:ext cx="167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00000"/>
                </a:solidFill>
              </a:rPr>
              <a:t>Topic / Subject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286000" y="155448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10B981"/>
                </a:solidFill>
              </a:rPr>
              <a:t>✓ Yes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3474720" y="1554480"/>
            <a:ext cx="2370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272525"/>
                </a:solidFill>
              </a:rPr>
              <a:t>Clear t-SNE clusters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035040" y="1508760"/>
            <a:ext cx="27651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0000"/>
                </a:solidFill>
              </a:rPr>
              <a:t>Dense vector</a:t>
            </a:r>
            <a:endParaRPr lang="en-US" sz="1650" dirty="0"/>
          </a:p>
          <a:p>
            <a:pPr marL="0" indent="0">
              <a:buNone/>
            </a:pPr>
            <a:r>
              <a:rPr lang="en-US" sz="1650" b="1" dirty="0">
                <a:solidFill>
                  <a:srgbClr val="000000"/>
                </a:solidFill>
              </a:rPr>
              <a:t>(semantic search)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48640" y="2194560"/>
            <a:ext cx="167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00000"/>
                </a:solidFill>
              </a:rPr>
              <a:t>Specific Skills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2286000" y="219456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4950BC"/>
                </a:solidFill>
              </a:rPr>
              <a:t>△ Partial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3474720" y="2194560"/>
            <a:ext cx="2370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272525"/>
                </a:solidFill>
              </a:rPr>
              <a:t>Sparse data (29.4% missing)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035040" y="2126895"/>
            <a:ext cx="27651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0000"/>
                </a:solidFill>
              </a:rPr>
              <a:t>BM25 keyword</a:t>
            </a:r>
            <a:endParaRPr lang="en-US" sz="1650" dirty="0"/>
          </a:p>
          <a:p>
            <a:pPr marL="0" indent="0">
              <a:buNone/>
            </a:pPr>
            <a:r>
              <a:rPr lang="en-US" sz="1650" b="1" dirty="0">
                <a:solidFill>
                  <a:srgbClr val="000000"/>
                </a:solidFill>
              </a:rPr>
              <a:t>matching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8229600" cy="594360"/>
          </a:xfrm>
          <a:prstGeom prst="rect">
            <a:avLst/>
          </a:prstGeom>
          <a:solidFill>
            <a:srgbClr val="DADBF1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2834640"/>
            <a:ext cx="167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00000"/>
                </a:solidFill>
              </a:rPr>
              <a:t>Difficulty Level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2286000" y="283464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EF4444"/>
                </a:solidFill>
              </a:rPr>
              <a:t>✗ No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3474720" y="2834640"/>
            <a:ext cx="2370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272525"/>
                </a:solidFill>
              </a:rPr>
              <a:t>Uniform distribution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035040" y="2788920"/>
            <a:ext cx="27651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0000"/>
                </a:solidFill>
              </a:rPr>
              <a:t>Qdrant</a:t>
            </a:r>
            <a:endParaRPr lang="en-US" sz="1650" dirty="0"/>
          </a:p>
          <a:p>
            <a:pPr marL="0" indent="0">
              <a:buNone/>
            </a:pPr>
            <a:r>
              <a:rPr lang="en-US" sz="1650" b="1" dirty="0">
                <a:solidFill>
                  <a:srgbClr val="000000"/>
                </a:solidFill>
              </a:rPr>
              <a:t>payload filter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48640" y="3474720"/>
            <a:ext cx="167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00000"/>
                </a:solidFill>
              </a:rPr>
              <a:t>Organization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2286000" y="347472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EF4444"/>
                </a:solidFill>
              </a:rPr>
              <a:t>✗ No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3474720" y="3474720"/>
            <a:ext cx="2370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272525"/>
                </a:solidFill>
              </a:rPr>
              <a:t>Scattered across space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035040" y="3429000"/>
            <a:ext cx="27651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0000"/>
                </a:solidFill>
              </a:rPr>
              <a:t>Qdrant</a:t>
            </a:r>
            <a:endParaRPr lang="en-US" sz="1650" dirty="0"/>
          </a:p>
          <a:p>
            <a:pPr marL="0" indent="0">
              <a:buNone/>
            </a:pPr>
            <a:r>
              <a:rPr lang="en-US" sz="1650" b="1" dirty="0">
                <a:solidFill>
                  <a:srgbClr val="000000"/>
                </a:solidFill>
              </a:rPr>
              <a:t>payload filter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DADBF1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4114800"/>
            <a:ext cx="167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000000"/>
                </a:solidFill>
              </a:rPr>
              <a:t>Rating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2286000" y="4114800"/>
            <a:ext cx="987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EF4444"/>
                </a:solidFill>
              </a:rPr>
              <a:t>✗ No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3474720" y="4114800"/>
            <a:ext cx="23701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272525"/>
                </a:solidFill>
              </a:rPr>
              <a:t>Numeric metadata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6035040" y="4069080"/>
            <a:ext cx="276514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00000"/>
                </a:solidFill>
              </a:rPr>
              <a:t>Qdrant</a:t>
            </a:r>
            <a:endParaRPr lang="en-US" sz="1650" dirty="0"/>
          </a:p>
          <a:p>
            <a:pPr marL="0" indent="0">
              <a:buNone/>
            </a:pPr>
            <a:r>
              <a:rPr lang="en-US" sz="1650" b="1" dirty="0">
                <a:solidFill>
                  <a:srgbClr val="000000"/>
                </a:solidFill>
              </a:rPr>
              <a:t>payload filter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ADB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57200" y="3931920"/>
            <a:ext cx="54864" cy="82296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4202" y="4091940"/>
            <a:ext cx="8285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4950BC"/>
                </a:solidFill>
              </a:rPr>
              <a:t>Conclusion: </a:t>
            </a:r>
            <a:r>
              <a:rPr lang="en-US" sz="1950" dirty="0">
                <a:solidFill>
                  <a:srgbClr val="000000"/>
                </a:solidFill>
              </a:rPr>
              <a:t>Embedding captures WHAT the course is about. Metadata (level, org, rating) needs structural filtering.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944086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9793" y="506016"/>
            <a:ext cx="5287640" cy="437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38"/>
              </a:lnSpc>
            </a:pPr>
            <a:r>
              <a:rPr lang="en-US" sz="2750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Strong Points of This Capstone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89794" y="1219646"/>
            <a:ext cx="8164413" cy="444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94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Three pillars that demonstrate engineering rigor, observability, and disciplined scope management throughout the project lifecycle.</a:t>
            </a:r>
            <a:endParaRPr lang="en-US" sz="1094" dirty="0"/>
          </a:p>
        </p:txBody>
      </p:sp>
      <p:sp>
        <p:nvSpPr>
          <p:cNvPr id="4" name="Shape 2"/>
          <p:cNvSpPr/>
          <p:nvPr/>
        </p:nvSpPr>
        <p:spPr>
          <a:xfrm>
            <a:off x="489793" y="1820019"/>
            <a:ext cx="2629346" cy="2817465"/>
          </a:xfrm>
          <a:prstGeom prst="roundRect">
            <a:avLst>
              <a:gd name="adj" fmla="val 223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sz="1125"/>
          </a:p>
        </p:txBody>
      </p:sp>
      <p:sp>
        <p:nvSpPr>
          <p:cNvPr id="5" name="Shape 3"/>
          <p:cNvSpPr/>
          <p:nvPr/>
        </p:nvSpPr>
        <p:spPr>
          <a:xfrm>
            <a:off x="508843" y="1839070"/>
            <a:ext cx="2591246" cy="419844"/>
          </a:xfrm>
          <a:prstGeom prst="roundRect">
            <a:avLst>
              <a:gd name="adj" fmla="val 8556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 sz="1125"/>
          </a:p>
        </p:txBody>
      </p:sp>
      <p:sp>
        <p:nvSpPr>
          <p:cNvPr id="6" name="Text 4"/>
          <p:cNvSpPr/>
          <p:nvPr/>
        </p:nvSpPr>
        <p:spPr>
          <a:xfrm>
            <a:off x="1699468" y="1915418"/>
            <a:ext cx="209922" cy="262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25"/>
              </a:lnSpc>
            </a:pPr>
            <a:r>
              <a:rPr lang="en-US" sz="1625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1</a:t>
            </a:r>
            <a:endParaRPr lang="en-US" sz="1625" dirty="0"/>
          </a:p>
        </p:txBody>
      </p:sp>
      <p:sp>
        <p:nvSpPr>
          <p:cNvPr id="7" name="Text 5"/>
          <p:cNvSpPr/>
          <p:nvPr/>
        </p:nvSpPr>
        <p:spPr>
          <a:xfrm>
            <a:off x="648742" y="2397026"/>
            <a:ext cx="2137246" cy="218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End-to-End Working PoC</a:t>
            </a:r>
            <a:endParaRPr lang="en-US" sz="1375" dirty="0"/>
          </a:p>
        </p:txBody>
      </p:sp>
      <p:sp>
        <p:nvSpPr>
          <p:cNvPr id="8" name="Text 6"/>
          <p:cNvSpPr/>
          <p:nvPr/>
        </p:nvSpPr>
        <p:spPr>
          <a:xfrm>
            <a:off x="648742" y="2698552"/>
            <a:ext cx="2311449" cy="17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94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Hybrid Search (BM25 + Dense + RRF) paired with a Multi-Agent system (4 LLMs, 5 Tools) and a React frontend — all wired into a single pipeline: user query → agent routing → hybrid retrieval → LLM response. One-command startup via Docker Compose.</a:t>
            </a:r>
            <a:endParaRPr lang="en-US" sz="1094" dirty="0"/>
          </a:p>
        </p:txBody>
      </p:sp>
      <p:sp>
        <p:nvSpPr>
          <p:cNvPr id="9" name="Shape 7"/>
          <p:cNvSpPr/>
          <p:nvPr/>
        </p:nvSpPr>
        <p:spPr>
          <a:xfrm>
            <a:off x="3257253" y="1820019"/>
            <a:ext cx="2629421" cy="2817465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sz="1125"/>
          </a:p>
        </p:txBody>
      </p:sp>
      <p:sp>
        <p:nvSpPr>
          <p:cNvPr id="10" name="Shape 8"/>
          <p:cNvSpPr/>
          <p:nvPr/>
        </p:nvSpPr>
        <p:spPr>
          <a:xfrm>
            <a:off x="3276303" y="1839070"/>
            <a:ext cx="2591321" cy="419844"/>
          </a:xfrm>
          <a:prstGeom prst="roundRect">
            <a:avLst>
              <a:gd name="adj" fmla="val 8556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 sz="1125"/>
          </a:p>
        </p:txBody>
      </p:sp>
      <p:sp>
        <p:nvSpPr>
          <p:cNvPr id="11" name="Text 9"/>
          <p:cNvSpPr/>
          <p:nvPr/>
        </p:nvSpPr>
        <p:spPr>
          <a:xfrm>
            <a:off x="4467002" y="1915418"/>
            <a:ext cx="209922" cy="262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25"/>
              </a:lnSpc>
            </a:pPr>
            <a:r>
              <a:rPr lang="en-US" sz="1625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2</a:t>
            </a:r>
            <a:endParaRPr lang="en-US" sz="1625" dirty="0"/>
          </a:p>
        </p:txBody>
      </p:sp>
      <p:sp>
        <p:nvSpPr>
          <p:cNvPr id="12" name="Text 10"/>
          <p:cNvSpPr/>
          <p:nvPr/>
        </p:nvSpPr>
        <p:spPr>
          <a:xfrm>
            <a:off x="3416201" y="2397026"/>
            <a:ext cx="2283619" cy="218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Measurement-First Design</a:t>
            </a:r>
            <a:endParaRPr lang="en-US" sz="1375" dirty="0"/>
          </a:p>
        </p:txBody>
      </p:sp>
      <p:sp>
        <p:nvSpPr>
          <p:cNvPr id="13" name="Text 11"/>
          <p:cNvSpPr/>
          <p:nvPr/>
        </p:nvSpPr>
        <p:spPr>
          <a:xfrm>
            <a:off x="3416201" y="2698552"/>
            <a:ext cx="2311524" cy="177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94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LangFuse tracing instruments every LLM call (model, tokens, cost, latency). DeepEval covers Answer Relevancy, Faithfulness, and Actionability. IR metrics include Hit Rate, Precision@K, and Recall@K — all built </a:t>
            </a:r>
            <a:r>
              <a:rPr lang="en-US" sz="1094" i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before</a:t>
            </a:r>
            <a:r>
              <a:rPr lang="en-US" sz="1094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feature expansion.</a:t>
            </a:r>
            <a:endParaRPr lang="en-US" sz="1094" dirty="0"/>
          </a:p>
        </p:txBody>
      </p:sp>
      <p:sp>
        <p:nvSpPr>
          <p:cNvPr id="14" name="Shape 12"/>
          <p:cNvSpPr/>
          <p:nvPr/>
        </p:nvSpPr>
        <p:spPr>
          <a:xfrm>
            <a:off x="6024786" y="1820019"/>
            <a:ext cx="2629346" cy="2817465"/>
          </a:xfrm>
          <a:prstGeom prst="roundRect">
            <a:avLst>
              <a:gd name="adj" fmla="val 2236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sz="1125"/>
          </a:p>
        </p:txBody>
      </p:sp>
      <p:sp>
        <p:nvSpPr>
          <p:cNvPr id="15" name="Shape 13"/>
          <p:cNvSpPr/>
          <p:nvPr/>
        </p:nvSpPr>
        <p:spPr>
          <a:xfrm>
            <a:off x="6043836" y="1839070"/>
            <a:ext cx="2591246" cy="419844"/>
          </a:xfrm>
          <a:prstGeom prst="roundRect">
            <a:avLst>
              <a:gd name="adj" fmla="val 8556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 sz="1125"/>
          </a:p>
        </p:txBody>
      </p:sp>
      <p:sp>
        <p:nvSpPr>
          <p:cNvPr id="16" name="Text 14"/>
          <p:cNvSpPr/>
          <p:nvPr/>
        </p:nvSpPr>
        <p:spPr>
          <a:xfrm>
            <a:off x="7234461" y="1915418"/>
            <a:ext cx="209922" cy="262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625"/>
              </a:lnSpc>
            </a:pPr>
            <a:r>
              <a:rPr lang="en-US" sz="1625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3</a:t>
            </a:r>
            <a:endParaRPr lang="en-US" sz="1625" dirty="0"/>
          </a:p>
        </p:txBody>
      </p:sp>
      <p:sp>
        <p:nvSpPr>
          <p:cNvPr id="17" name="Text 15"/>
          <p:cNvSpPr/>
          <p:nvPr/>
        </p:nvSpPr>
        <p:spPr>
          <a:xfrm>
            <a:off x="6183734" y="2397026"/>
            <a:ext cx="1749400" cy="218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Scope Discipline</a:t>
            </a:r>
            <a:endParaRPr lang="en-US" sz="1375" dirty="0"/>
          </a:p>
        </p:txBody>
      </p:sp>
      <p:sp>
        <p:nvSpPr>
          <p:cNvPr id="18" name="Text 16"/>
          <p:cNvSpPr/>
          <p:nvPr/>
        </p:nvSpPr>
        <p:spPr>
          <a:xfrm>
            <a:off x="6183735" y="2698552"/>
            <a:ext cx="2311449" cy="1334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1094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PoC / PoB / Prd boundaries explicitly defined. "What we didn't do and why" is fully documented — 7 deferred items, each with a recommended phase and clear rationale.</a:t>
            </a:r>
            <a:endParaRPr lang="en-US" sz="1094" dirty="0"/>
          </a:p>
        </p:txBody>
      </p:sp>
    </p:spTree>
    <p:extLst>
      <p:ext uri="{BB962C8B-B14F-4D97-AF65-F5344CB8AC3E}">
        <p14:creationId xmlns:p14="http://schemas.microsoft.com/office/powerpoint/2010/main" val="1689533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43434"/>
            <a:ext cx="530296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Challenges &amp; Lessons Learned</a:t>
            </a:r>
            <a:endParaRPr lang="en-US" sz="2781" dirty="0"/>
          </a:p>
        </p:txBody>
      </p:sp>
      <p:sp>
        <p:nvSpPr>
          <p:cNvPr id="3" name="Text 1"/>
          <p:cNvSpPr/>
          <p:nvPr/>
        </p:nvSpPr>
        <p:spPr>
          <a:xfrm>
            <a:off x="496119" y="1769939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What we discovered building the PoC — and what it means for how we move forward.</a:t>
            </a:r>
            <a:endParaRPr lang="en-US" sz="1094" dirty="0"/>
          </a:p>
        </p:txBody>
      </p:sp>
      <p:sp>
        <p:nvSpPr>
          <p:cNvPr id="4" name="Shape 2"/>
          <p:cNvSpPr/>
          <p:nvPr/>
        </p:nvSpPr>
        <p:spPr>
          <a:xfrm>
            <a:off x="394023" y="2156222"/>
            <a:ext cx="4107136" cy="1943770"/>
          </a:xfrm>
          <a:prstGeom prst="roundRect">
            <a:avLst>
              <a:gd name="adj" fmla="val 5251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US" sz="1125"/>
          </a:p>
        </p:txBody>
      </p:sp>
      <p:sp>
        <p:nvSpPr>
          <p:cNvPr id="5" name="Text 3"/>
          <p:cNvSpPr/>
          <p:nvPr/>
        </p:nvSpPr>
        <p:spPr>
          <a:xfrm>
            <a:off x="535781" y="2297981"/>
            <a:ext cx="30869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🔴</a:t>
            </a:r>
            <a:r>
              <a:rPr lang="en-US" sz="1375" b="1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Biggest Challenge: Ground Truth</a:t>
            </a:r>
            <a:endParaRPr lang="en-US" sz="1375" dirty="0"/>
          </a:p>
        </p:txBody>
      </p:sp>
      <p:sp>
        <p:nvSpPr>
          <p:cNvPr id="6" name="Text 4"/>
          <p:cNvSpPr/>
          <p:nvPr/>
        </p:nvSpPr>
        <p:spPr>
          <a:xfrm>
            <a:off x="535781" y="2661196"/>
            <a:ext cx="3823618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14313" indent="-214313">
              <a:lnSpc>
                <a:spcPts val="1781"/>
              </a:lnSpc>
              <a:buSzPct val="100000"/>
              <a:buChar char="•"/>
            </a:pPr>
            <a:r>
              <a:rPr lang="en-US" sz="1094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38 test cases generated from DB queries — not human-validated</a:t>
            </a:r>
            <a:endParaRPr lang="en-US" sz="1094" dirty="0"/>
          </a:p>
          <a:p>
            <a:pPr marL="214313" indent="-214313">
              <a:lnSpc>
                <a:spcPts val="1781"/>
              </a:lnSpc>
              <a:buSzPct val="100000"/>
              <a:buChar char="•"/>
            </a:pPr>
            <a:r>
              <a:rPr lang="en-US" sz="1094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Course descriptions are too short to confidently label "correct" answers</a:t>
            </a:r>
            <a:endParaRPr lang="en-US" sz="1094" dirty="0"/>
          </a:p>
          <a:p>
            <a:pPr marL="214313" indent="-214313">
              <a:lnSpc>
                <a:spcPts val="1781"/>
              </a:lnSpc>
              <a:buSzPct val="100000"/>
              <a:buChar char="•"/>
            </a:pPr>
            <a:r>
              <a:rPr lang="en-US" sz="1094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This remains the </a:t>
            </a:r>
            <a:r>
              <a:rPr lang="en-US" sz="1094" b="1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most critical open problem</a:t>
            </a:r>
            <a:r>
              <a:rPr lang="en-US" sz="1094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to solve</a:t>
            </a:r>
            <a:endParaRPr lang="en-US" sz="1094" dirty="0"/>
          </a:p>
        </p:txBody>
      </p:sp>
      <p:sp>
        <p:nvSpPr>
          <p:cNvPr id="7" name="Text 5"/>
          <p:cNvSpPr/>
          <p:nvPr/>
        </p:nvSpPr>
        <p:spPr>
          <a:xfrm>
            <a:off x="4749701" y="229798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💡 Key Lesson</a:t>
            </a:r>
            <a:endParaRPr lang="en-US" sz="1375" dirty="0"/>
          </a:p>
        </p:txBody>
      </p:sp>
      <p:sp>
        <p:nvSpPr>
          <p:cNvPr id="8" name="Text 6"/>
          <p:cNvSpPr/>
          <p:nvPr/>
        </p:nvSpPr>
        <p:spPr>
          <a:xfrm>
            <a:off x="4962302" y="2678906"/>
            <a:ext cx="3690343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Build observability and evaluation infrastructure </a:t>
            </a:r>
            <a:r>
              <a:rPr lang="en-US" sz="1094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before</a:t>
            </a:r>
            <a:r>
              <a:rPr lang="en-US" sz="1094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expanding features. If you can't measure it, you can't improve it.</a:t>
            </a:r>
            <a:endParaRPr lang="en-US" sz="1094" dirty="0"/>
          </a:p>
        </p:txBody>
      </p:sp>
      <p:sp>
        <p:nvSpPr>
          <p:cNvPr id="9" name="Shape 7"/>
          <p:cNvSpPr/>
          <p:nvPr/>
        </p:nvSpPr>
        <p:spPr>
          <a:xfrm>
            <a:off x="4749701" y="2678906"/>
            <a:ext cx="19050" cy="680443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US" sz="1125"/>
          </a:p>
        </p:txBody>
      </p:sp>
      <p:sp>
        <p:nvSpPr>
          <p:cNvPr id="10" name="Text 8"/>
          <p:cNvSpPr/>
          <p:nvPr/>
        </p:nvSpPr>
        <p:spPr>
          <a:xfrm>
            <a:off x="4749701" y="3518818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Evaluation frameworks must be established early — not retrofitted after the fact.</a:t>
            </a:r>
            <a:endParaRPr lang="en-US" sz="1094" dirty="0"/>
          </a:p>
        </p:txBody>
      </p:sp>
    </p:spTree>
    <p:extLst>
      <p:ext uri="{BB962C8B-B14F-4D97-AF65-F5344CB8AC3E}">
        <p14:creationId xmlns:p14="http://schemas.microsoft.com/office/powerpoint/2010/main" val="1145807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6863"/>
            <a:ext cx="2480891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38"/>
              </a:lnSpc>
            </a:pPr>
            <a:r>
              <a:rPr lang="en-US" sz="1938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By the Numbers</a:t>
            </a:r>
            <a:endParaRPr lang="en-US" sz="1938" dirty="0"/>
          </a:p>
        </p:txBody>
      </p:sp>
      <p:sp>
        <p:nvSpPr>
          <p:cNvPr id="3" name="Text 1"/>
          <p:cNvSpPr/>
          <p:nvPr/>
        </p:nvSpPr>
        <p:spPr>
          <a:xfrm>
            <a:off x="496119" y="945877"/>
            <a:ext cx="8151763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63"/>
              </a:lnSpc>
            </a:pPr>
            <a:r>
              <a:rPr lang="en-US" sz="78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 snapshot of the technical depth packed into this capstone.</a:t>
            </a:r>
            <a:endParaRPr lang="en-US" sz="781" dirty="0"/>
          </a:p>
        </p:txBody>
      </p:sp>
      <p:sp>
        <p:nvSpPr>
          <p:cNvPr id="4" name="Text 2"/>
          <p:cNvSpPr/>
          <p:nvPr/>
        </p:nvSpPr>
        <p:spPr>
          <a:xfrm>
            <a:off x="792063" y="1208559"/>
            <a:ext cx="138097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563"/>
              </a:lnSpc>
            </a:pPr>
            <a:r>
              <a:rPr lang="en-US" sz="2563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4</a:t>
            </a:r>
            <a:endParaRPr lang="en-US" sz="2563" dirty="0"/>
          </a:p>
        </p:txBody>
      </p:sp>
      <p:sp>
        <p:nvSpPr>
          <p:cNvPr id="5" name="Text 3"/>
          <p:cNvSpPr/>
          <p:nvPr/>
        </p:nvSpPr>
        <p:spPr>
          <a:xfrm>
            <a:off x="862310" y="1637631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219"/>
              </a:lnSpc>
            </a:pPr>
            <a:r>
              <a:rPr lang="en-US" sz="969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LLMs Integrated</a:t>
            </a:r>
            <a:endParaRPr lang="en-US" sz="969" dirty="0"/>
          </a:p>
        </p:txBody>
      </p:sp>
      <p:sp>
        <p:nvSpPr>
          <p:cNvPr id="6" name="Text 4"/>
          <p:cNvSpPr/>
          <p:nvPr/>
        </p:nvSpPr>
        <p:spPr>
          <a:xfrm>
            <a:off x="496119" y="1834307"/>
            <a:ext cx="197286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063"/>
              </a:lnSpc>
            </a:pPr>
            <a:r>
              <a:rPr lang="en-US" sz="78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Coordinated via multi-agent routing</a:t>
            </a:r>
            <a:endParaRPr lang="en-US" sz="781" dirty="0"/>
          </a:p>
        </p:txBody>
      </p:sp>
      <p:sp>
        <p:nvSpPr>
          <p:cNvPr id="7" name="Text 5"/>
          <p:cNvSpPr/>
          <p:nvPr/>
        </p:nvSpPr>
        <p:spPr>
          <a:xfrm>
            <a:off x="2851696" y="1208559"/>
            <a:ext cx="138097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563"/>
              </a:lnSpc>
            </a:pPr>
            <a:r>
              <a:rPr lang="en-US" sz="2563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5</a:t>
            </a:r>
            <a:endParaRPr lang="en-US" sz="2563" dirty="0"/>
          </a:p>
        </p:txBody>
      </p:sp>
      <p:sp>
        <p:nvSpPr>
          <p:cNvPr id="8" name="Text 6"/>
          <p:cNvSpPr/>
          <p:nvPr/>
        </p:nvSpPr>
        <p:spPr>
          <a:xfrm>
            <a:off x="2921943" y="1637631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219"/>
              </a:lnSpc>
            </a:pPr>
            <a:r>
              <a:rPr lang="en-US" sz="969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Agent Tools</a:t>
            </a:r>
            <a:endParaRPr lang="en-US" sz="969" dirty="0"/>
          </a:p>
        </p:txBody>
      </p:sp>
      <p:sp>
        <p:nvSpPr>
          <p:cNvPr id="9" name="Text 7"/>
          <p:cNvSpPr/>
          <p:nvPr/>
        </p:nvSpPr>
        <p:spPr>
          <a:xfrm>
            <a:off x="2555751" y="1834307"/>
            <a:ext cx="197286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063"/>
              </a:lnSpc>
            </a:pPr>
            <a:r>
              <a:rPr lang="en-US" sz="78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Specialized capabilities per tool</a:t>
            </a:r>
            <a:endParaRPr lang="en-US" sz="781" dirty="0"/>
          </a:p>
        </p:txBody>
      </p:sp>
      <p:sp>
        <p:nvSpPr>
          <p:cNvPr id="10" name="Text 8"/>
          <p:cNvSpPr/>
          <p:nvPr/>
        </p:nvSpPr>
        <p:spPr>
          <a:xfrm>
            <a:off x="4911328" y="1208559"/>
            <a:ext cx="138097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563"/>
              </a:lnSpc>
            </a:pPr>
            <a:r>
              <a:rPr lang="en-US" sz="2563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3</a:t>
            </a:r>
            <a:endParaRPr lang="en-US" sz="2563" dirty="0"/>
          </a:p>
        </p:txBody>
      </p:sp>
      <p:sp>
        <p:nvSpPr>
          <p:cNvPr id="11" name="Text 9"/>
          <p:cNvSpPr/>
          <p:nvPr/>
        </p:nvSpPr>
        <p:spPr>
          <a:xfrm>
            <a:off x="4981575" y="1637631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219"/>
              </a:lnSpc>
            </a:pPr>
            <a:r>
              <a:rPr lang="en-US" sz="969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Retrieval Metrics</a:t>
            </a:r>
            <a:endParaRPr lang="en-US" sz="969" dirty="0"/>
          </a:p>
        </p:txBody>
      </p:sp>
      <p:sp>
        <p:nvSpPr>
          <p:cNvPr id="12" name="Text 10"/>
          <p:cNvSpPr/>
          <p:nvPr/>
        </p:nvSpPr>
        <p:spPr>
          <a:xfrm>
            <a:off x="4615383" y="1834307"/>
            <a:ext cx="197286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063"/>
              </a:lnSpc>
            </a:pPr>
            <a:r>
              <a:rPr lang="en-US" sz="78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Hit Rate, Precision@K, Recall@K</a:t>
            </a:r>
            <a:endParaRPr lang="en-US" sz="781" dirty="0"/>
          </a:p>
        </p:txBody>
      </p:sp>
      <p:sp>
        <p:nvSpPr>
          <p:cNvPr id="13" name="Text 11"/>
          <p:cNvSpPr/>
          <p:nvPr/>
        </p:nvSpPr>
        <p:spPr>
          <a:xfrm>
            <a:off x="6970961" y="1208559"/>
            <a:ext cx="1380976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563"/>
              </a:lnSpc>
            </a:pPr>
            <a:r>
              <a:rPr lang="en-US" sz="2563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7</a:t>
            </a:r>
            <a:endParaRPr lang="en-US" sz="2563" dirty="0"/>
          </a:p>
        </p:txBody>
      </p:sp>
      <p:sp>
        <p:nvSpPr>
          <p:cNvPr id="14" name="Text 12"/>
          <p:cNvSpPr/>
          <p:nvPr/>
        </p:nvSpPr>
        <p:spPr>
          <a:xfrm>
            <a:off x="7041208" y="1637631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219"/>
              </a:lnSpc>
            </a:pPr>
            <a:r>
              <a:rPr lang="en-US" sz="969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Deferred Items</a:t>
            </a:r>
            <a:endParaRPr lang="en-US" sz="969" dirty="0"/>
          </a:p>
        </p:txBody>
      </p:sp>
      <p:sp>
        <p:nvSpPr>
          <p:cNvPr id="15" name="Text 13"/>
          <p:cNvSpPr/>
          <p:nvPr/>
        </p:nvSpPr>
        <p:spPr>
          <a:xfrm>
            <a:off x="6675016" y="1834307"/>
            <a:ext cx="197286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063"/>
              </a:lnSpc>
            </a:pPr>
            <a:r>
              <a:rPr lang="en-US" sz="78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Each with phase &amp; justification</a:t>
            </a:r>
            <a:endParaRPr lang="en-US" sz="781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8891" y="2047429"/>
            <a:ext cx="5706219" cy="22511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606574" y="2827050"/>
            <a:ext cx="1135141" cy="154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188"/>
              </a:lnSpc>
            </a:pPr>
            <a:r>
              <a:rPr lang="en-US" sz="969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Measure First</a:t>
            </a:r>
            <a:endParaRPr lang="en-US" sz="969" dirty="0"/>
          </a:p>
        </p:txBody>
      </p:sp>
      <p:sp>
        <p:nvSpPr>
          <p:cNvPr id="18" name="Text 15"/>
          <p:cNvSpPr/>
          <p:nvPr/>
        </p:nvSpPr>
        <p:spPr>
          <a:xfrm>
            <a:off x="2606574" y="3025421"/>
            <a:ext cx="1135141" cy="31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813"/>
              </a:lnSpc>
            </a:pPr>
            <a:r>
              <a:rPr lang="en-US" sz="750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Instrument every LLM call with LangFuse + DeepEval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017820" y="3110363"/>
            <a:ext cx="1135141" cy="154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188"/>
              </a:lnSpc>
            </a:pPr>
            <a:r>
              <a:rPr lang="en-US" sz="969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Build Right</a:t>
            </a:r>
            <a:endParaRPr lang="en-US" sz="969" dirty="0"/>
          </a:p>
        </p:txBody>
      </p:sp>
      <p:sp>
        <p:nvSpPr>
          <p:cNvPr id="20" name="Text 17"/>
          <p:cNvSpPr/>
          <p:nvPr/>
        </p:nvSpPr>
        <p:spPr>
          <a:xfrm>
            <a:off x="4017820" y="3308733"/>
            <a:ext cx="1135141" cy="21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813"/>
              </a:lnSpc>
            </a:pPr>
            <a:r>
              <a:rPr lang="en-US" sz="750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Hybrid Search with a Multi-Agent pipeline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445541" y="2827050"/>
            <a:ext cx="1135140" cy="154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188"/>
              </a:lnSpc>
            </a:pPr>
            <a:r>
              <a:rPr lang="en-US" sz="969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Ship Disciplined</a:t>
            </a:r>
            <a:endParaRPr lang="en-US" sz="969" dirty="0"/>
          </a:p>
        </p:txBody>
      </p:sp>
      <p:sp>
        <p:nvSpPr>
          <p:cNvPr id="22" name="Text 19"/>
          <p:cNvSpPr/>
          <p:nvPr/>
        </p:nvSpPr>
        <p:spPr>
          <a:xfrm>
            <a:off x="5445541" y="3025421"/>
            <a:ext cx="1135140" cy="31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813"/>
              </a:lnSpc>
            </a:pPr>
            <a:r>
              <a:rPr lang="en-US" sz="750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Define scope boundaries and 7 documented deferrals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96119" y="4376664"/>
            <a:ext cx="8151763" cy="269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63"/>
              </a:lnSpc>
            </a:pPr>
            <a:r>
              <a:rPr lang="en-US" sz="78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The capstone follows a deliberate sequence: establish measurement infrastructure, build the full pipeline, then enforce scope boundaries — a pattern that mirrors production-grade engineering practice.</a:t>
            </a:r>
            <a:endParaRPr lang="en-US" sz="781" dirty="0"/>
          </a:p>
        </p:txBody>
      </p:sp>
    </p:spTree>
    <p:extLst>
      <p:ext uri="{BB962C8B-B14F-4D97-AF65-F5344CB8AC3E}">
        <p14:creationId xmlns:p14="http://schemas.microsoft.com/office/powerpoint/2010/main" val="4116474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5DB1B-990C-1E51-57E8-18C4C561F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BE830A-D1F3-2362-7D99-AA0566D21F89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4C21AA5-6622-93C7-DB97-9D8C08414B6D}"/>
              </a:ext>
            </a:extLst>
          </p:cNvPr>
          <p:cNvSpPr/>
          <p:nvPr/>
        </p:nvSpPr>
        <p:spPr>
          <a:xfrm>
            <a:off x="127000" y="1645920"/>
            <a:ext cx="8559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4950BC"/>
                </a:solidFill>
                <a:latin typeface="Segoe UI" pitchFamily="34" charset="0"/>
              </a:rPr>
              <a:t>Next Action</a:t>
            </a:r>
            <a:endParaRPr lang="en-US" sz="7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0CF06C5-BD15-CC14-CDF2-77EFED1A77FA}"/>
              </a:ext>
            </a:extLst>
          </p:cNvPr>
          <p:cNvSpPr/>
          <p:nvPr/>
        </p:nvSpPr>
        <p:spPr>
          <a:xfrm>
            <a:off x="3840480" y="2926080"/>
            <a:ext cx="1463040" cy="36576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 fontScale="2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153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45517" y="896019"/>
            <a:ext cx="4491708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>
              <a:lnSpc>
                <a:spcPts val="2938"/>
              </a:lnSpc>
            </a:pPr>
            <a:r>
              <a:rPr lang="en-US" sz="5400" b="1" dirty="0">
                <a:solidFill>
                  <a:srgbClr val="000000"/>
                </a:solidFill>
                <a:latin typeface="Segoe UI"/>
              </a:rPr>
              <a:t>Business Strategy &amp; Validation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96119" y="1301725"/>
            <a:ext cx="815176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>
              <a:lnSpc>
                <a:spcPts val="1375"/>
              </a:lnSpc>
            </a:pPr>
            <a:r>
              <a:rPr lang="en-US" sz="1650" dirty="0">
                <a:solidFill>
                  <a:srgbClr val="272525"/>
                </a:solidFill>
                <a:latin typeface="Segoe UI"/>
              </a:rPr>
              <a:t>Technology alone is not enough — define how to </a:t>
            </a:r>
            <a:r>
              <a:rPr lang="en-US" sz="1650" b="1" dirty="0">
                <a:solidFill>
                  <a:srgbClr val="272525"/>
                </a:solidFill>
                <a:latin typeface="Segoe UI"/>
              </a:rPr>
              <a:t>measure and prove business value</a:t>
            </a:r>
            <a:r>
              <a:rPr lang="en-US" sz="1407" dirty="0">
                <a:solidFill>
                  <a:srgbClr val="272525"/>
                </a:solidFill>
                <a:latin typeface="Segoe UI"/>
              </a:rPr>
              <a:t>.</a:t>
            </a:r>
            <a:endParaRPr lang="en-US" sz="1407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595215"/>
            <a:ext cx="301228" cy="3012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2024434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7500" lnSpcReduction="20000"/>
          </a:bodyPr>
          <a:lstStyle/>
          <a:p>
            <a:pPr>
              <a:lnSpc>
                <a:spcPts val="1469"/>
              </a:lnSpc>
            </a:pPr>
            <a:r>
              <a:rPr lang="en-US" sz="2400" b="1" dirty="0">
                <a:solidFill>
                  <a:srgbClr val="272525"/>
                </a:solidFill>
                <a:latin typeface="Segoe UI"/>
              </a:rPr>
              <a:t>ROI Calculation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96119" y="2274094"/>
            <a:ext cx="4011886" cy="356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375"/>
              </a:lnSpc>
            </a:pPr>
            <a:r>
              <a:rPr lang="en-US" sz="1800" dirty="0">
                <a:solidFill>
                  <a:srgbClr val="272525"/>
                </a:solidFill>
                <a:latin typeface="Segoe UI"/>
              </a:rPr>
              <a:t>API + infra cost model vs. value delivered </a:t>
            </a:r>
          </a:p>
          <a:p>
            <a:pPr>
              <a:lnSpc>
                <a:spcPts val="1375"/>
              </a:lnSpc>
            </a:pPr>
            <a:r>
              <a:rPr lang="en-US" sz="1800" dirty="0">
                <a:solidFill>
                  <a:srgbClr val="272525"/>
                </a:solidFill>
                <a:latin typeface="Segoe UI"/>
              </a:rPr>
              <a:t>— time saved, course match quality</a:t>
            </a:r>
            <a:endParaRPr lang="en-US" sz="1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5997" y="1595215"/>
            <a:ext cx="301228" cy="3012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35996" y="2024434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7500" lnSpcReduction="20000"/>
          </a:bodyPr>
          <a:lstStyle/>
          <a:p>
            <a:pPr>
              <a:lnSpc>
                <a:spcPts val="1469"/>
              </a:lnSpc>
            </a:pPr>
            <a:r>
              <a:rPr lang="en-US" sz="2400" b="1" dirty="0">
                <a:solidFill>
                  <a:srgbClr val="272525"/>
                </a:solidFill>
                <a:latin typeface="Segoe UI"/>
              </a:rPr>
              <a:t>Market Analysis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635996" y="2290720"/>
            <a:ext cx="4011886" cy="356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ts val="1375"/>
              </a:lnSpc>
            </a:pPr>
            <a:r>
              <a:rPr lang="en-US" sz="1407" dirty="0">
                <a:solidFill>
                  <a:srgbClr val="272525"/>
                </a:solidFill>
                <a:latin typeface="Segoe UI"/>
              </a:rPr>
              <a:t>Competitive landscape + TAM/SAM/SOM for AI-powered course discovery</a:t>
            </a:r>
            <a:endParaRPr lang="en-US" sz="1407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835474"/>
            <a:ext cx="301228" cy="3012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6119" y="3264694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7500" lnSpcReduction="20000"/>
          </a:bodyPr>
          <a:lstStyle/>
          <a:p>
            <a:pPr>
              <a:lnSpc>
                <a:spcPts val="1469"/>
              </a:lnSpc>
            </a:pPr>
            <a:r>
              <a:rPr lang="en-US" sz="2400" b="1" dirty="0">
                <a:solidFill>
                  <a:srgbClr val="272525"/>
                </a:solidFill>
                <a:latin typeface="Segoe UI"/>
              </a:rPr>
              <a:t>PoC vs. PoB Criteria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496119" y="3514353"/>
            <a:ext cx="4011886" cy="356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375"/>
              </a:lnSpc>
            </a:pPr>
            <a:r>
              <a:rPr lang="en-US" sz="1800" dirty="0">
                <a:solidFill>
                  <a:srgbClr val="272525"/>
                </a:solidFill>
                <a:latin typeface="Segoe UI"/>
              </a:rPr>
              <a:t>PoC = tech feasibility. PoB = business value. </a:t>
            </a:r>
          </a:p>
          <a:p>
            <a:pPr>
              <a:lnSpc>
                <a:spcPts val="1375"/>
              </a:lnSpc>
            </a:pPr>
            <a:r>
              <a:rPr lang="en-US" sz="1800" dirty="0">
                <a:solidFill>
                  <a:srgbClr val="272525"/>
                </a:solidFill>
                <a:latin typeface="Segoe UI"/>
              </a:rPr>
              <a:t>Clear go/no-go thresholds.</a:t>
            </a:r>
            <a:endParaRPr lang="en-US" sz="18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5997" y="2852100"/>
            <a:ext cx="301228" cy="3012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35996" y="3281320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47500" lnSpcReduction="20000"/>
          </a:bodyPr>
          <a:lstStyle/>
          <a:p>
            <a:pPr>
              <a:lnSpc>
                <a:spcPts val="1469"/>
              </a:lnSpc>
            </a:pPr>
            <a:r>
              <a:rPr lang="en-US" sz="2400" b="1" dirty="0">
                <a:solidFill>
                  <a:srgbClr val="272525"/>
                </a:solidFill>
                <a:latin typeface="Segoe UI"/>
              </a:rPr>
              <a:t>KPI Definition</a:t>
            </a:r>
            <a:endParaRPr lang="en-US" sz="2400" dirty="0"/>
          </a:p>
        </p:txBody>
      </p:sp>
      <p:sp>
        <p:nvSpPr>
          <p:cNvPr id="17" name="Text 11"/>
          <p:cNvSpPr/>
          <p:nvPr/>
        </p:nvSpPr>
        <p:spPr>
          <a:xfrm>
            <a:off x="4635996" y="3530979"/>
            <a:ext cx="401188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>
              <a:lnSpc>
                <a:spcPts val="1375"/>
              </a:lnSpc>
            </a:pPr>
            <a:r>
              <a:rPr lang="en-US" sz="1407" dirty="0">
                <a:solidFill>
                  <a:srgbClr val="272525"/>
                </a:solidFill>
                <a:latin typeface="Segoe UI"/>
              </a:rPr>
              <a:t>Engagement rate, recommendation acceptance, skill gap closure, NPS</a:t>
            </a:r>
            <a:endParaRPr lang="en-US" sz="1407" dirty="0"/>
          </a:p>
        </p:txBody>
      </p:sp>
      <p:sp>
        <p:nvSpPr>
          <p:cNvPr id="18" name="Shape 12"/>
          <p:cNvSpPr/>
          <p:nvPr/>
        </p:nvSpPr>
        <p:spPr>
          <a:xfrm>
            <a:off x="445517" y="4059288"/>
            <a:ext cx="8202365" cy="641375"/>
          </a:xfrm>
          <a:prstGeom prst="roundRect">
            <a:avLst>
              <a:gd name="adj" fmla="val 7891"/>
            </a:avLst>
          </a:prstGeom>
          <a:solidFill>
            <a:srgbClr val="C7C9EA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8774" y="4197252"/>
            <a:ext cx="445796" cy="3565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87686" y="4126770"/>
            <a:ext cx="7639720" cy="356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47500" lnSpcReduction="20000"/>
          </a:bodyPr>
          <a:lstStyle/>
          <a:p>
            <a:pPr>
              <a:lnSpc>
                <a:spcPts val="1375"/>
              </a:lnSpc>
            </a:pPr>
            <a:r>
              <a:rPr lang="en-US" sz="2100" b="1" dirty="0">
                <a:solidFill>
                  <a:srgbClr val="000000"/>
                </a:solidFill>
                <a:latin typeface="Segoe UI"/>
              </a:rPr>
              <a:t>Production-Ready</a:t>
            </a:r>
            <a:r>
              <a:rPr lang="en-US" sz="2100" dirty="0">
                <a:solidFill>
                  <a:srgbClr val="000000"/>
                </a:solidFill>
                <a:latin typeface="Segoe UI"/>
              </a:rPr>
              <a:t> </a:t>
            </a:r>
          </a:p>
          <a:p>
            <a:pPr>
              <a:lnSpc>
                <a:spcPts val="1375"/>
              </a:lnSpc>
            </a:pPr>
            <a:r>
              <a:rPr lang="en-US" sz="2100" dirty="0">
                <a:solidFill>
                  <a:srgbClr val="000000"/>
                </a:solidFill>
                <a:latin typeface="Segoe UI"/>
              </a:rPr>
              <a:t>means hitting defined performance thresholds, accuracy targets, and cost ceilings — not just deploying to the cloud.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370061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767507"/>
            <a:ext cx="3493591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2938"/>
              </a:lnSpc>
            </a:pPr>
            <a:r>
              <a:rPr lang="en-US" sz="3516" b="1" dirty="0">
                <a:solidFill>
                  <a:srgbClr val="000000"/>
                </a:solidFill>
                <a:latin typeface="Segoe UI" pitchFamily="34"/>
              </a:rPr>
              <a:t>Agent &amp; AI Optimization</a:t>
            </a:r>
            <a:endParaRPr lang="en-US" sz="3516" dirty="0"/>
          </a:p>
        </p:txBody>
      </p:sp>
      <p:sp>
        <p:nvSpPr>
          <p:cNvPr id="5" name="Text 3"/>
          <p:cNvSpPr/>
          <p:nvPr/>
        </p:nvSpPr>
        <p:spPr>
          <a:xfrm>
            <a:off x="496119" y="1297633"/>
            <a:ext cx="815176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>
              <a:lnSpc>
                <a:spcPts val="1375"/>
              </a:lnSpc>
            </a:pPr>
            <a:r>
              <a:rPr lang="en-US" sz="1407" b="1" dirty="0">
                <a:solidFill>
                  <a:srgbClr val="272525"/>
                </a:solidFill>
                <a:latin typeface="Segoe UI" pitchFamily="34"/>
              </a:rPr>
              <a:t>Goal:</a:t>
            </a:r>
            <a:r>
              <a:rPr lang="en-US" sz="1407" dirty="0">
                <a:solidFill>
                  <a:srgbClr val="272525"/>
                </a:solidFill>
                <a:latin typeface="Segoe UI" pitchFamily="34"/>
              </a:rPr>
              <a:t> Optimize cost, accuracy, latency, and capability through data-driven iteration.</a:t>
            </a:r>
            <a:endParaRPr lang="en-US" sz="1407" dirty="0"/>
          </a:p>
        </p:txBody>
      </p:sp>
      <p:sp>
        <p:nvSpPr>
          <p:cNvPr id="6" name="Shape 4"/>
          <p:cNvSpPr/>
          <p:nvPr/>
        </p:nvSpPr>
        <p:spPr>
          <a:xfrm>
            <a:off x="496119" y="1591121"/>
            <a:ext cx="4024684" cy="1469083"/>
          </a:xfrm>
          <a:prstGeom prst="roundRect">
            <a:avLst>
              <a:gd name="adj" fmla="val 344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7" name="Shape 5"/>
          <p:cNvSpPr/>
          <p:nvPr/>
        </p:nvSpPr>
        <p:spPr>
          <a:xfrm>
            <a:off x="510407" y="1605409"/>
            <a:ext cx="3996109" cy="361504"/>
          </a:xfrm>
          <a:prstGeom prst="roundRect">
            <a:avLst>
              <a:gd name="adj" fmla="val 9257"/>
            </a:avLst>
          </a:prstGeom>
          <a:solidFill>
            <a:srgbClr val="DADBF1"/>
          </a:solidFill>
          <a:ln/>
        </p:spPr>
        <p:txBody>
          <a:bodyPr>
            <a:normAutofit lnSpcReduction="10000"/>
          </a:bodyPr>
          <a:lstStyle/>
          <a:p>
            <a:endParaRPr lang="en-US" sz="1688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8085" y="1693367"/>
            <a:ext cx="180752" cy="180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30883" y="2069306"/>
            <a:ext cx="1761902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>
              <a:lnSpc>
                <a:spcPts val="1469"/>
              </a:lnSpc>
            </a:pPr>
            <a:r>
              <a:rPr lang="en-US" sz="1734" b="1" dirty="0">
                <a:solidFill>
                  <a:srgbClr val="272525"/>
                </a:solidFill>
                <a:latin typeface="Segoe UI" pitchFamily="34"/>
              </a:rPr>
              <a:t>Caching &amp; Compression</a:t>
            </a:r>
            <a:endParaRPr lang="en-US" sz="1734" dirty="0"/>
          </a:p>
        </p:txBody>
      </p:sp>
      <p:sp>
        <p:nvSpPr>
          <p:cNvPr id="10" name="Text 7"/>
          <p:cNvSpPr/>
          <p:nvPr/>
        </p:nvSpPr>
        <p:spPr>
          <a:xfrm>
            <a:off x="630883" y="2318966"/>
            <a:ext cx="3755157" cy="606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4313" indent="-214313">
              <a:lnSpc>
                <a:spcPts val="1375"/>
              </a:lnSpc>
              <a:buSzPct val="100000"/>
              <a:buChar char="•"/>
            </a:pPr>
            <a:r>
              <a:rPr lang="en-US" sz="1407" dirty="0">
                <a:solidFill>
                  <a:srgbClr val="272525"/>
                </a:solidFill>
                <a:latin typeface="Segoe UI" pitchFamily="34"/>
              </a:rPr>
              <a:t>Cache repeated query patterns</a:t>
            </a:r>
            <a:endParaRPr lang="en-US" sz="1407" dirty="0"/>
          </a:p>
          <a:p>
            <a:pPr marL="214313" indent="-214313">
              <a:lnSpc>
                <a:spcPts val="1375"/>
              </a:lnSpc>
              <a:buSzPct val="100000"/>
              <a:buChar char="•"/>
            </a:pPr>
            <a:r>
              <a:rPr lang="en-US" sz="1407" dirty="0">
                <a:solidFill>
                  <a:srgbClr val="272525"/>
                </a:solidFill>
                <a:latin typeface="Segoe UI" pitchFamily="34"/>
              </a:rPr>
              <a:t>Prompt compression via context pruning</a:t>
            </a:r>
            <a:endParaRPr lang="en-US" sz="1407" dirty="0"/>
          </a:p>
          <a:p>
            <a:pPr marL="214313" indent="-214313">
              <a:lnSpc>
                <a:spcPts val="1375"/>
              </a:lnSpc>
              <a:buSzPct val="100000"/>
              <a:buChar char="•"/>
            </a:pPr>
            <a:r>
              <a:rPr lang="en-US" sz="1407" dirty="0">
                <a:solidFill>
                  <a:srgbClr val="272525"/>
                </a:solidFill>
                <a:latin typeface="Segoe UI" pitchFamily="34"/>
              </a:rPr>
              <a:t>Reduce latency and API token cost</a:t>
            </a:r>
            <a:endParaRPr lang="en-US" sz="1407" dirty="0"/>
          </a:p>
        </p:txBody>
      </p:sp>
      <p:sp>
        <p:nvSpPr>
          <p:cNvPr id="11" name="Shape 8"/>
          <p:cNvSpPr/>
          <p:nvPr/>
        </p:nvSpPr>
        <p:spPr>
          <a:xfrm>
            <a:off x="4623197" y="1591121"/>
            <a:ext cx="4024684" cy="1469083"/>
          </a:xfrm>
          <a:prstGeom prst="roundRect">
            <a:avLst>
              <a:gd name="adj" fmla="val 344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2" name="Shape 9"/>
          <p:cNvSpPr/>
          <p:nvPr/>
        </p:nvSpPr>
        <p:spPr>
          <a:xfrm>
            <a:off x="4637485" y="1605409"/>
            <a:ext cx="3996109" cy="361504"/>
          </a:xfrm>
          <a:prstGeom prst="roundRect">
            <a:avLst>
              <a:gd name="adj" fmla="val 9257"/>
            </a:avLst>
          </a:prstGeom>
          <a:solidFill>
            <a:srgbClr val="DADBF1"/>
          </a:solidFill>
          <a:ln/>
        </p:spPr>
        <p:txBody>
          <a:bodyPr>
            <a:normAutofit lnSpcReduction="10000"/>
          </a:bodyPr>
          <a:lstStyle/>
          <a:p>
            <a:endParaRPr lang="en-US" sz="1688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5163" y="1693367"/>
            <a:ext cx="180752" cy="180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7961" y="2069306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>
              <a:lnSpc>
                <a:spcPts val="1469"/>
              </a:lnSpc>
            </a:pPr>
            <a:r>
              <a:rPr lang="en-US" sz="1734" b="1" dirty="0">
                <a:solidFill>
                  <a:srgbClr val="272525"/>
                </a:solidFill>
                <a:latin typeface="Segoe UI" pitchFamily="34"/>
              </a:rPr>
              <a:t>Model Routing</a:t>
            </a:r>
            <a:endParaRPr lang="en-US" sz="1734" dirty="0"/>
          </a:p>
        </p:txBody>
      </p:sp>
      <p:sp>
        <p:nvSpPr>
          <p:cNvPr id="15" name="Text 11"/>
          <p:cNvSpPr/>
          <p:nvPr/>
        </p:nvSpPr>
        <p:spPr>
          <a:xfrm>
            <a:off x="4757961" y="2318966"/>
            <a:ext cx="3755157" cy="606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4313" indent="-214313">
              <a:lnSpc>
                <a:spcPts val="1375"/>
              </a:lnSpc>
              <a:buSzPct val="100000"/>
              <a:buChar char="•"/>
            </a:pPr>
            <a:r>
              <a:rPr lang="en-US" sz="1407" dirty="0"/>
              <a:t>Cost Management</a:t>
            </a:r>
          </a:p>
          <a:p>
            <a:pPr marL="214313" indent="-214313">
              <a:lnSpc>
                <a:spcPts val="1375"/>
              </a:lnSpc>
              <a:buSzPct val="100000"/>
              <a:buChar char="•"/>
            </a:pPr>
            <a:r>
              <a:rPr lang="en-US" sz="1407" dirty="0"/>
              <a:t>Insurance Quality</a:t>
            </a:r>
          </a:p>
          <a:p>
            <a:pPr marL="214313" indent="-214313">
              <a:lnSpc>
                <a:spcPts val="1375"/>
              </a:lnSpc>
              <a:buSzPct val="100000"/>
              <a:buChar char="•"/>
            </a:pPr>
            <a:r>
              <a:rPr lang="en-US" sz="1407" dirty="0"/>
              <a:t>Remain </a:t>
            </a:r>
            <a:r>
              <a:rPr lang="en-US" sz="1407" dirty="0" err="1"/>
              <a:t>Userbility</a:t>
            </a:r>
            <a:endParaRPr lang="en-US" sz="1407" dirty="0"/>
          </a:p>
        </p:txBody>
      </p:sp>
      <p:sp>
        <p:nvSpPr>
          <p:cNvPr id="16" name="Shape 12"/>
          <p:cNvSpPr/>
          <p:nvPr/>
        </p:nvSpPr>
        <p:spPr>
          <a:xfrm>
            <a:off x="496119" y="3162597"/>
            <a:ext cx="4024684" cy="1469083"/>
          </a:xfrm>
          <a:prstGeom prst="roundRect">
            <a:avLst>
              <a:gd name="adj" fmla="val 344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7" name="Shape 13"/>
          <p:cNvSpPr/>
          <p:nvPr/>
        </p:nvSpPr>
        <p:spPr>
          <a:xfrm>
            <a:off x="510407" y="3176885"/>
            <a:ext cx="3996109" cy="361504"/>
          </a:xfrm>
          <a:prstGeom prst="roundRect">
            <a:avLst>
              <a:gd name="adj" fmla="val 9257"/>
            </a:avLst>
          </a:prstGeom>
          <a:solidFill>
            <a:srgbClr val="DADBF1"/>
          </a:solidFill>
          <a:ln/>
        </p:spPr>
        <p:txBody>
          <a:bodyPr>
            <a:normAutofit lnSpcReduction="10000"/>
          </a:bodyPr>
          <a:lstStyle/>
          <a:p>
            <a:endParaRPr lang="en-US" sz="1688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8085" y="3264843"/>
            <a:ext cx="180752" cy="180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883" y="3640782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>
              <a:lnSpc>
                <a:spcPts val="1469"/>
              </a:lnSpc>
            </a:pPr>
            <a:r>
              <a:rPr lang="en-US" sz="1734" b="1" dirty="0">
                <a:solidFill>
                  <a:srgbClr val="272525"/>
                </a:solidFill>
                <a:latin typeface="Segoe UI" pitchFamily="34"/>
              </a:rPr>
              <a:t>Agent Refinement</a:t>
            </a:r>
            <a:endParaRPr lang="en-US" sz="1734" dirty="0"/>
          </a:p>
        </p:txBody>
      </p:sp>
      <p:sp>
        <p:nvSpPr>
          <p:cNvPr id="20" name="Text 15"/>
          <p:cNvSpPr/>
          <p:nvPr/>
        </p:nvSpPr>
        <p:spPr>
          <a:xfrm>
            <a:off x="630883" y="3890442"/>
            <a:ext cx="3755157" cy="606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4313" indent="-214313">
              <a:lnSpc>
                <a:spcPts val="1375"/>
              </a:lnSpc>
              <a:buSzPct val="100000"/>
              <a:buChar char="•"/>
            </a:pPr>
            <a:r>
              <a:rPr lang="en-US" sz="1407" dirty="0">
                <a:solidFill>
                  <a:srgbClr val="272525"/>
                </a:solidFill>
                <a:latin typeface="Segoe UI" pitchFamily="34"/>
              </a:rPr>
              <a:t>Optimize handoff logic</a:t>
            </a:r>
            <a:endParaRPr lang="en-US" sz="1407" dirty="0"/>
          </a:p>
          <a:p>
            <a:pPr marL="214313" indent="-214313">
              <a:lnSpc>
                <a:spcPts val="1375"/>
              </a:lnSpc>
              <a:buSzPct val="100000"/>
              <a:buChar char="•"/>
            </a:pPr>
            <a:r>
              <a:rPr lang="en-US" sz="1407" dirty="0">
                <a:solidFill>
                  <a:srgbClr val="272525"/>
                </a:solidFill>
                <a:latin typeface="Segoe UI" pitchFamily="34"/>
              </a:rPr>
              <a:t>Error handling &amp; fallback strategies</a:t>
            </a:r>
            <a:endParaRPr lang="en-US" sz="1407" dirty="0"/>
          </a:p>
          <a:p>
            <a:pPr marL="214313" indent="-214313">
              <a:lnSpc>
                <a:spcPts val="1375"/>
              </a:lnSpc>
              <a:buSzPct val="100000"/>
              <a:buChar char="•"/>
            </a:pPr>
            <a:r>
              <a:rPr lang="en-US" sz="1407" dirty="0">
                <a:solidFill>
                  <a:srgbClr val="272525"/>
                </a:solidFill>
                <a:latin typeface="Segoe UI" pitchFamily="34"/>
              </a:rPr>
              <a:t>Multimodal: image/PDF input support</a:t>
            </a:r>
            <a:endParaRPr lang="en-US" sz="1407" dirty="0"/>
          </a:p>
        </p:txBody>
      </p:sp>
      <p:sp>
        <p:nvSpPr>
          <p:cNvPr id="21" name="Shape 16"/>
          <p:cNvSpPr/>
          <p:nvPr/>
        </p:nvSpPr>
        <p:spPr>
          <a:xfrm>
            <a:off x="4623197" y="3162597"/>
            <a:ext cx="4024684" cy="1469083"/>
          </a:xfrm>
          <a:prstGeom prst="roundRect">
            <a:avLst>
              <a:gd name="adj" fmla="val 344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22" name="Shape 17"/>
          <p:cNvSpPr/>
          <p:nvPr/>
        </p:nvSpPr>
        <p:spPr>
          <a:xfrm>
            <a:off x="4637485" y="3176885"/>
            <a:ext cx="3996109" cy="361504"/>
          </a:xfrm>
          <a:prstGeom prst="roundRect">
            <a:avLst>
              <a:gd name="adj" fmla="val 9257"/>
            </a:avLst>
          </a:prstGeom>
          <a:solidFill>
            <a:srgbClr val="DADBF1"/>
          </a:solidFill>
          <a:ln/>
        </p:spPr>
        <p:txBody>
          <a:bodyPr>
            <a:normAutofit lnSpcReduction="10000"/>
          </a:bodyPr>
          <a:lstStyle/>
          <a:p>
            <a:endParaRPr lang="en-US" sz="1688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5163" y="3264843"/>
            <a:ext cx="180752" cy="18075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57961" y="3640782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>
              <a:lnSpc>
                <a:spcPts val="1469"/>
              </a:lnSpc>
            </a:pPr>
            <a:r>
              <a:rPr lang="en-US" sz="1734" b="1" dirty="0">
                <a:solidFill>
                  <a:srgbClr val="272525"/>
                </a:solidFill>
                <a:latin typeface="Segoe UI" pitchFamily="34"/>
              </a:rPr>
              <a:t>ML Integration</a:t>
            </a:r>
            <a:endParaRPr lang="en-US" sz="1734" dirty="0"/>
          </a:p>
        </p:txBody>
      </p:sp>
      <p:sp>
        <p:nvSpPr>
          <p:cNvPr id="25" name="Text 19"/>
          <p:cNvSpPr/>
          <p:nvPr/>
        </p:nvSpPr>
        <p:spPr>
          <a:xfrm>
            <a:off x="4757961" y="3890442"/>
            <a:ext cx="3755157" cy="606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4313" indent="-214313">
              <a:lnSpc>
                <a:spcPts val="1375"/>
              </a:lnSpc>
              <a:buSzPct val="100000"/>
              <a:buChar char="•"/>
            </a:pPr>
            <a:r>
              <a:rPr lang="en-US" sz="1407" dirty="0">
                <a:solidFill>
                  <a:srgbClr val="272525"/>
                </a:solidFill>
                <a:latin typeface="Segoe UI" pitchFamily="34"/>
              </a:rPr>
              <a:t>Recommendation engine</a:t>
            </a:r>
            <a:endParaRPr lang="en-US" sz="1407" dirty="0"/>
          </a:p>
          <a:p>
            <a:pPr marL="214313" indent="-214313">
              <a:lnSpc>
                <a:spcPts val="1375"/>
              </a:lnSpc>
              <a:buSzPct val="100000"/>
              <a:buChar char="•"/>
            </a:pPr>
            <a:r>
              <a:rPr lang="en-US" sz="1407" dirty="0">
                <a:solidFill>
                  <a:srgbClr val="272525"/>
                </a:solidFill>
                <a:latin typeface="Segoe UI" pitchFamily="34"/>
              </a:rPr>
              <a:t>User behavior analysis</a:t>
            </a:r>
            <a:endParaRPr lang="en-US" sz="1407" dirty="0"/>
          </a:p>
          <a:p>
            <a:pPr marL="214313" indent="-214313">
              <a:lnSpc>
                <a:spcPts val="1375"/>
              </a:lnSpc>
              <a:buSzPct val="100000"/>
              <a:buChar char="•"/>
            </a:pPr>
            <a:r>
              <a:rPr lang="en-US" sz="1407" dirty="0">
                <a:solidFill>
                  <a:srgbClr val="272525"/>
                </a:solidFill>
                <a:latin typeface="Segoe UI" pitchFamily="34"/>
              </a:rPr>
              <a:t>Personalization layer</a:t>
            </a:r>
            <a:endParaRPr lang="en-US" sz="1407" dirty="0"/>
          </a:p>
        </p:txBody>
      </p:sp>
    </p:spTree>
    <p:extLst>
      <p:ext uri="{BB962C8B-B14F-4D97-AF65-F5344CB8AC3E}">
        <p14:creationId xmlns:p14="http://schemas.microsoft.com/office/powerpoint/2010/main" val="3342739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681335"/>
            <a:ext cx="8128000" cy="3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>
              <a:lnSpc>
                <a:spcPts val="3125"/>
              </a:lnSpc>
            </a:pPr>
            <a:r>
              <a:rPr lang="en-US" sz="3750" b="1" dirty="0">
                <a:solidFill>
                  <a:srgbClr val="000000"/>
                </a:solidFill>
                <a:latin typeface="Segoe UI" pitchFamily="34"/>
              </a:rPr>
              <a:t>Feature Roadmap &amp; Production Infrastructure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531837" y="1367061"/>
            <a:ext cx="1594843" cy="1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563"/>
              </a:lnSpc>
            </a:pPr>
            <a:r>
              <a:rPr lang="en-US" sz="1875" b="1" dirty="0">
                <a:solidFill>
                  <a:srgbClr val="000000"/>
                </a:solidFill>
                <a:latin typeface="Segoe UI" pitchFamily="34"/>
              </a:rPr>
              <a:t>Feature Roadmap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517550" y="1703182"/>
            <a:ext cx="28575" cy="5366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8" name="Text 6"/>
          <p:cNvSpPr/>
          <p:nvPr/>
        </p:nvSpPr>
        <p:spPr>
          <a:xfrm>
            <a:off x="687959" y="1717470"/>
            <a:ext cx="3556000" cy="1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563"/>
              </a:lnSpc>
            </a:pPr>
            <a:r>
              <a:rPr lang="en-US" sz="1875" b="1" dirty="0">
                <a:solidFill>
                  <a:srgbClr val="000000"/>
                </a:solidFill>
                <a:latin typeface="Segoe UI" pitchFamily="34"/>
              </a:rPr>
              <a:t>Course Analytics Dashboard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687958" y="1885272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ts val="1500"/>
              </a:lnSpc>
            </a:pPr>
            <a:r>
              <a:rPr lang="en-US" sz="1500" dirty="0">
                <a:solidFill>
                  <a:srgbClr val="000000"/>
                </a:solidFill>
                <a:latin typeface="Segoe UI" pitchFamily="34"/>
              </a:rPr>
              <a:t>Engagement metrics, popularity trends, completion rates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17550" y="2440849"/>
            <a:ext cx="28575" cy="5366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1" name="Text 9"/>
          <p:cNvSpPr/>
          <p:nvPr/>
        </p:nvSpPr>
        <p:spPr>
          <a:xfrm>
            <a:off x="687959" y="2455136"/>
            <a:ext cx="3556000" cy="1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563"/>
              </a:lnSpc>
            </a:pPr>
            <a:r>
              <a:rPr lang="en-US" sz="1875" b="1" dirty="0">
                <a:solidFill>
                  <a:srgbClr val="000000"/>
                </a:solidFill>
                <a:latin typeface="Segoe UI" pitchFamily="34"/>
              </a:rPr>
              <a:t>User Profile Enhancement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687958" y="2637566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ts val="1500"/>
              </a:lnSpc>
            </a:pPr>
            <a:r>
              <a:rPr lang="en-US" sz="1500" dirty="0">
                <a:solidFill>
                  <a:srgbClr val="000000"/>
                </a:solidFill>
                <a:latin typeface="Segoe UI" pitchFamily="34"/>
              </a:rPr>
              <a:t>MCQ-based skill assessment, learning style detection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7550" y="3178515"/>
            <a:ext cx="28575" cy="5366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4" name="Text 12"/>
          <p:cNvSpPr/>
          <p:nvPr/>
        </p:nvSpPr>
        <p:spPr>
          <a:xfrm>
            <a:off x="687958" y="3167864"/>
            <a:ext cx="3556000" cy="1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563"/>
              </a:lnSpc>
            </a:pPr>
            <a:r>
              <a:rPr lang="en-US" sz="1875" b="1" dirty="0">
                <a:solidFill>
                  <a:srgbClr val="000000"/>
                </a:solidFill>
                <a:latin typeface="Segoe UI" pitchFamily="34"/>
              </a:rPr>
              <a:t>Course Registration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687958" y="336792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ts val="1500"/>
              </a:lnSpc>
            </a:pPr>
            <a:r>
              <a:rPr lang="en-US" sz="1500" dirty="0">
                <a:solidFill>
                  <a:srgbClr val="000000"/>
                </a:solidFill>
                <a:latin typeface="Segoe UI" pitchFamily="34"/>
              </a:rPr>
              <a:t>Admin CRUD interface for managing course catalog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7550" y="3916182"/>
            <a:ext cx="28575" cy="5366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7" name="Text 15"/>
          <p:cNvSpPr/>
          <p:nvPr/>
        </p:nvSpPr>
        <p:spPr>
          <a:xfrm>
            <a:off x="687958" y="3930470"/>
            <a:ext cx="3556000" cy="1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563"/>
              </a:lnSpc>
            </a:pPr>
            <a:r>
              <a:rPr lang="en-US" sz="1875" b="1" dirty="0">
                <a:solidFill>
                  <a:srgbClr val="000000"/>
                </a:solidFill>
                <a:latin typeface="Segoe UI" pitchFamily="34"/>
              </a:rPr>
              <a:t>Data Retention &amp; Archival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687958" y="4120215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ts val="1500"/>
              </a:lnSpc>
            </a:pPr>
            <a:r>
              <a:rPr lang="en-US" sz="1500" dirty="0">
                <a:solidFill>
                  <a:srgbClr val="000000"/>
                </a:solidFill>
                <a:latin typeface="Segoe UI" pitchFamily="34"/>
              </a:rPr>
              <a:t>Structured storage policy, historical data, backups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26508" y="1336150"/>
            <a:ext cx="3937000" cy="1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563"/>
              </a:lnSpc>
            </a:pPr>
            <a:r>
              <a:rPr lang="en-US" sz="1875" b="1" dirty="0">
                <a:solidFill>
                  <a:srgbClr val="000000"/>
                </a:solidFill>
                <a:latin typeface="Segoe UI" pitchFamily="34"/>
              </a:rPr>
              <a:t>Secure Cloud Infrastructure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4718075" y="1644663"/>
            <a:ext cx="28575" cy="5366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21" name="Text 19"/>
          <p:cNvSpPr/>
          <p:nvPr/>
        </p:nvSpPr>
        <p:spPr>
          <a:xfrm>
            <a:off x="4888483" y="1658951"/>
            <a:ext cx="3937000" cy="1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563"/>
              </a:lnSpc>
            </a:pPr>
            <a:r>
              <a:rPr lang="en-US" sz="1875" b="1" dirty="0">
                <a:solidFill>
                  <a:srgbClr val="272525"/>
                </a:solidFill>
                <a:latin typeface="Segoe UI" pitchFamily="34"/>
              </a:rPr>
              <a:t>Hosting &amp; CI/CD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4888483" y="1834066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ts val="1500"/>
              </a:lnSpc>
            </a:pPr>
            <a:r>
              <a:rPr lang="en-US" sz="1500" dirty="0">
                <a:solidFill>
                  <a:srgbClr val="272525"/>
                </a:solidFill>
                <a:latin typeface="Segoe UI" pitchFamily="34"/>
              </a:rPr>
              <a:t>Azure App Service (containers) + GitHub Actions Runner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88483" y="2396617"/>
            <a:ext cx="3937000" cy="1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563"/>
              </a:lnSpc>
            </a:pPr>
            <a:r>
              <a:rPr lang="en-US" sz="1875" b="1" dirty="0">
                <a:solidFill>
                  <a:srgbClr val="272525"/>
                </a:solidFill>
                <a:latin typeface="Segoe UI" pitchFamily="34"/>
              </a:rPr>
              <a:t>Networking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4888483" y="2571732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ts val="1500"/>
              </a:lnSpc>
            </a:pPr>
            <a:r>
              <a:rPr lang="en-US" sz="1500" dirty="0">
                <a:solidFill>
                  <a:srgbClr val="272525"/>
                </a:solidFill>
                <a:latin typeface="Segoe UI" pitchFamily="34"/>
              </a:rPr>
              <a:t>Integration Runtime — NIC inside Azure VNet, zero public endpoints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718075" y="3204192"/>
            <a:ext cx="28575" cy="5366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27" name="Text 25"/>
          <p:cNvSpPr/>
          <p:nvPr/>
        </p:nvSpPr>
        <p:spPr>
          <a:xfrm>
            <a:off x="4888483" y="3218480"/>
            <a:ext cx="3937000" cy="1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563"/>
              </a:lnSpc>
            </a:pPr>
            <a:r>
              <a:rPr lang="en-US" sz="1875" b="1" dirty="0">
                <a:solidFill>
                  <a:srgbClr val="272525"/>
                </a:solidFill>
                <a:latin typeface="Segoe UI" pitchFamily="34"/>
              </a:rPr>
              <a:t>Secrets &amp; IaC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4888483" y="3393595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ts val="1500"/>
              </a:lnSpc>
            </a:pPr>
            <a:r>
              <a:rPr lang="en-US" sz="1500" dirty="0">
                <a:solidFill>
                  <a:srgbClr val="272525"/>
                </a:solidFill>
                <a:latin typeface="Segoe UI" pitchFamily="34"/>
              </a:rPr>
              <a:t>Azure Key Vault + Terraform for infrastructure as code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718075" y="3927229"/>
            <a:ext cx="28575" cy="5366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30" name="Text 28"/>
          <p:cNvSpPr/>
          <p:nvPr/>
        </p:nvSpPr>
        <p:spPr>
          <a:xfrm>
            <a:off x="4888483" y="3941517"/>
            <a:ext cx="3937000" cy="1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563"/>
              </a:lnSpc>
            </a:pPr>
            <a:r>
              <a:rPr lang="en-US" sz="1875" b="1" dirty="0">
                <a:solidFill>
                  <a:srgbClr val="272525"/>
                </a:solidFill>
                <a:latin typeface="Segoe UI" pitchFamily="34"/>
              </a:rPr>
              <a:t>Zero-Trust Security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4888483" y="4116631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>
              <a:lnSpc>
                <a:spcPts val="1500"/>
              </a:lnSpc>
            </a:pPr>
            <a:r>
              <a:rPr lang="en-US" sz="1500" dirty="0">
                <a:solidFill>
                  <a:srgbClr val="272525"/>
                </a:solidFill>
                <a:latin typeface="Segoe UI" pitchFamily="34"/>
              </a:rPr>
              <a:t>VNet isolation, Managed Identity, self-hosted agent pool</a:t>
            </a:r>
            <a:endParaRPr lang="en-US" sz="1500" dirty="0"/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0E37CC9F-7CE9-4185-627B-1BEF2CD10BBD}"/>
              </a:ext>
            </a:extLst>
          </p:cNvPr>
          <p:cNvSpPr/>
          <p:nvPr/>
        </p:nvSpPr>
        <p:spPr>
          <a:xfrm>
            <a:off x="4724171" y="2426170"/>
            <a:ext cx="28575" cy="5366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</p:spTree>
    <p:extLst>
      <p:ext uri="{BB962C8B-B14F-4D97-AF65-F5344CB8AC3E}">
        <p14:creationId xmlns:p14="http://schemas.microsoft.com/office/powerpoint/2010/main" val="37106787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96119" y="681335"/>
            <a:ext cx="8128000" cy="3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>
              <a:lnSpc>
                <a:spcPts val="3125"/>
              </a:lnSpc>
            </a:pPr>
            <a:r>
              <a:rPr lang="en-US" sz="3750" b="1" dirty="0">
                <a:solidFill>
                  <a:srgbClr val="000000"/>
                </a:solidFill>
                <a:latin typeface="Segoe UI" pitchFamily="34"/>
              </a:rPr>
              <a:t>Additional Considerations for Production</a:t>
            </a:r>
          </a:p>
        </p:txBody>
      </p:sp>
      <p:sp>
        <p:nvSpPr>
          <p:cNvPr id="6" name="Text 4"/>
          <p:cNvSpPr/>
          <p:nvPr/>
        </p:nvSpPr>
        <p:spPr>
          <a:xfrm>
            <a:off x="531837" y="1367061"/>
            <a:ext cx="1594843" cy="1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563"/>
              </a:lnSpc>
            </a:pPr>
            <a:r>
              <a:rPr lang="en-US" sz="1875" b="1" dirty="0">
                <a:solidFill>
                  <a:srgbClr val="000000"/>
                </a:solidFill>
                <a:latin typeface="Segoe UI" pitchFamily="34"/>
              </a:rPr>
              <a:t>API &amp; Data Quality</a:t>
            </a:r>
          </a:p>
        </p:txBody>
      </p:sp>
      <p:sp>
        <p:nvSpPr>
          <p:cNvPr id="7" name="Shape 5"/>
          <p:cNvSpPr/>
          <p:nvPr/>
        </p:nvSpPr>
        <p:spPr>
          <a:xfrm>
            <a:off x="517550" y="1703182"/>
            <a:ext cx="28575" cy="5366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8" name="Text 6"/>
          <p:cNvSpPr/>
          <p:nvPr/>
        </p:nvSpPr>
        <p:spPr>
          <a:xfrm>
            <a:off x="687959" y="1717470"/>
            <a:ext cx="3556000" cy="1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563"/>
              </a:lnSpc>
            </a:pPr>
            <a:r>
              <a:rPr lang="en-US" sz="1875" b="1" dirty="0">
                <a:solidFill>
                  <a:srgbClr val="000000"/>
                </a:solidFill>
                <a:latin typeface="Segoe UI" pitchFamily="34"/>
              </a:rPr>
              <a:t>API Error Handling</a:t>
            </a:r>
          </a:p>
        </p:txBody>
      </p:sp>
      <p:sp>
        <p:nvSpPr>
          <p:cNvPr id="9" name="Text 7"/>
          <p:cNvSpPr/>
          <p:nvPr/>
        </p:nvSpPr>
        <p:spPr>
          <a:xfrm>
            <a:off x="687958" y="1885272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500"/>
              </a:lnSpc>
            </a:pPr>
            <a:r>
              <a:rPr lang="en-US" sz="1500" dirty="0">
                <a:solidFill>
                  <a:srgbClr val="000000"/>
                </a:solidFill>
                <a:latin typeface="Segoe UI" pitchFamily="34"/>
              </a:rPr>
              <a:t>Standardized error codes, retry with backoff, graceful degradation</a:t>
            </a:r>
          </a:p>
        </p:txBody>
      </p:sp>
      <p:sp>
        <p:nvSpPr>
          <p:cNvPr id="10" name="Shape 8"/>
          <p:cNvSpPr/>
          <p:nvPr/>
        </p:nvSpPr>
        <p:spPr>
          <a:xfrm>
            <a:off x="517550" y="2440849"/>
            <a:ext cx="28575" cy="5366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1" name="Text 9"/>
          <p:cNvSpPr/>
          <p:nvPr/>
        </p:nvSpPr>
        <p:spPr>
          <a:xfrm>
            <a:off x="687959" y="2455136"/>
            <a:ext cx="3556000" cy="1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563"/>
              </a:lnSpc>
            </a:pPr>
            <a:r>
              <a:rPr lang="en-US" sz="1875" b="1" dirty="0">
                <a:solidFill>
                  <a:srgbClr val="000000"/>
                </a:solidFill>
                <a:latin typeface="Segoe UI" pitchFamily="34"/>
              </a:rPr>
              <a:t>Input Validation &amp; API Design</a:t>
            </a:r>
          </a:p>
        </p:txBody>
      </p:sp>
      <p:sp>
        <p:nvSpPr>
          <p:cNvPr id="12" name="Text 10"/>
          <p:cNvSpPr/>
          <p:nvPr/>
        </p:nvSpPr>
        <p:spPr>
          <a:xfrm>
            <a:off x="687958" y="2637566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500"/>
              </a:lnSpc>
            </a:pPr>
            <a:r>
              <a:rPr lang="en-US" sz="1500" dirty="0">
                <a:solidFill>
                  <a:srgbClr val="000000"/>
                </a:solidFill>
                <a:latin typeface="Segoe UI" pitchFamily="34"/>
              </a:rPr>
              <a:t>Schema validation, rate limiting, versioning, OpenAPI spec</a:t>
            </a:r>
          </a:p>
        </p:txBody>
      </p:sp>
      <p:sp>
        <p:nvSpPr>
          <p:cNvPr id="13" name="Shape 11"/>
          <p:cNvSpPr/>
          <p:nvPr/>
        </p:nvSpPr>
        <p:spPr>
          <a:xfrm>
            <a:off x="517550" y="3178515"/>
            <a:ext cx="28575" cy="5366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4" name="Text 12"/>
          <p:cNvSpPr/>
          <p:nvPr/>
        </p:nvSpPr>
        <p:spPr>
          <a:xfrm>
            <a:off x="687958" y="3167864"/>
            <a:ext cx="3556000" cy="1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563"/>
              </a:lnSpc>
            </a:pPr>
            <a:r>
              <a:rPr lang="en-US" sz="1875" b="1" dirty="0">
                <a:solidFill>
                  <a:srgbClr val="000000"/>
                </a:solidFill>
                <a:latin typeface="Segoe UI" pitchFamily="34"/>
              </a:rPr>
              <a:t>DB Data Quality &amp; Integrity</a:t>
            </a:r>
          </a:p>
        </p:txBody>
      </p:sp>
      <p:sp>
        <p:nvSpPr>
          <p:cNvPr id="15" name="Text 13"/>
          <p:cNvSpPr/>
          <p:nvPr/>
        </p:nvSpPr>
        <p:spPr>
          <a:xfrm>
            <a:off x="687958" y="336792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500"/>
              </a:lnSpc>
            </a:pPr>
            <a:r>
              <a:rPr lang="en-US" sz="1500" dirty="0">
                <a:solidFill>
                  <a:srgbClr val="000000"/>
                </a:solidFill>
                <a:latin typeface="Segoe UI" pitchFamily="34"/>
              </a:rPr>
              <a:t>Missing value handling, data consistency checks, quality metrics</a:t>
            </a:r>
          </a:p>
        </p:txBody>
      </p:sp>
      <p:sp>
        <p:nvSpPr>
          <p:cNvPr id="16" name="Shape 14"/>
          <p:cNvSpPr/>
          <p:nvPr/>
        </p:nvSpPr>
        <p:spPr>
          <a:xfrm>
            <a:off x="517550" y="3916182"/>
            <a:ext cx="28575" cy="5366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7" name="Text 15"/>
          <p:cNvSpPr/>
          <p:nvPr/>
        </p:nvSpPr>
        <p:spPr>
          <a:xfrm>
            <a:off x="687958" y="3930470"/>
            <a:ext cx="3556000" cy="1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563"/>
              </a:lnSpc>
            </a:pPr>
            <a:r>
              <a:rPr lang="en-US" sz="1875" b="1" dirty="0">
                <a:solidFill>
                  <a:srgbClr val="000000"/>
                </a:solidFill>
                <a:latin typeface="Segoe UI" pitchFamily="34"/>
              </a:rPr>
              <a:t>Testing Strategy</a:t>
            </a:r>
          </a:p>
        </p:txBody>
      </p:sp>
      <p:sp>
        <p:nvSpPr>
          <p:cNvPr id="18" name="Text 16"/>
          <p:cNvSpPr/>
          <p:nvPr/>
        </p:nvSpPr>
        <p:spPr>
          <a:xfrm>
            <a:off x="687958" y="4120215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500"/>
              </a:lnSpc>
            </a:pPr>
            <a:r>
              <a:rPr lang="en-US" sz="1500" dirty="0">
                <a:solidFill>
                  <a:srgbClr val="000000"/>
                </a:solidFill>
                <a:latin typeface="Segoe UI" pitchFamily="34"/>
              </a:rPr>
              <a:t>Unit / integration / E2E tests + AI response quality evaluation</a:t>
            </a:r>
          </a:p>
        </p:txBody>
      </p:sp>
      <p:sp>
        <p:nvSpPr>
          <p:cNvPr id="19" name="Text 17"/>
          <p:cNvSpPr/>
          <p:nvPr/>
        </p:nvSpPr>
        <p:spPr>
          <a:xfrm>
            <a:off x="4726508" y="1336150"/>
            <a:ext cx="3937000" cy="1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563"/>
              </a:lnSpc>
            </a:pPr>
            <a:r>
              <a:rPr lang="en-US" sz="1875" b="1" dirty="0">
                <a:solidFill>
                  <a:srgbClr val="272525"/>
                </a:solidFill>
                <a:latin typeface="Segoe UI" pitchFamily="34"/>
              </a:rPr>
              <a:t>Governance &amp; Operations</a:t>
            </a:r>
          </a:p>
        </p:txBody>
      </p:sp>
      <p:sp>
        <p:nvSpPr>
          <p:cNvPr id="20" name="Shape 18"/>
          <p:cNvSpPr/>
          <p:nvPr/>
        </p:nvSpPr>
        <p:spPr>
          <a:xfrm>
            <a:off x="4718075" y="1644663"/>
            <a:ext cx="28575" cy="5366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21" name="Text 19"/>
          <p:cNvSpPr/>
          <p:nvPr/>
        </p:nvSpPr>
        <p:spPr>
          <a:xfrm>
            <a:off x="4888483" y="1634012"/>
            <a:ext cx="3937000" cy="1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563"/>
              </a:lnSpc>
            </a:pPr>
            <a:r>
              <a:rPr lang="en-US" sz="1875" b="1" dirty="0">
                <a:solidFill>
                  <a:srgbClr val="272525"/>
                </a:solidFill>
                <a:latin typeface="Segoe UI" pitchFamily="34"/>
              </a:rPr>
              <a:t>Monitoring &amp; Observability</a:t>
            </a:r>
          </a:p>
        </p:txBody>
      </p:sp>
      <p:sp>
        <p:nvSpPr>
          <p:cNvPr id="22" name="Text 20"/>
          <p:cNvSpPr/>
          <p:nvPr/>
        </p:nvSpPr>
        <p:spPr>
          <a:xfrm>
            <a:off x="4888483" y="1834066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500"/>
              </a:lnSpc>
            </a:pPr>
            <a:r>
              <a:rPr lang="en-US" sz="1500" dirty="0">
                <a:solidFill>
                  <a:srgbClr val="272525"/>
                </a:solidFill>
                <a:latin typeface="Segoe UI" pitchFamily="34"/>
              </a:rPr>
              <a:t>Log aggregation, APM dashboard, alerting, token usage tracking</a:t>
            </a:r>
          </a:p>
        </p:txBody>
      </p:sp>
      <p:sp>
        <p:nvSpPr>
          <p:cNvPr id="24" name="Text 22"/>
          <p:cNvSpPr/>
          <p:nvPr/>
        </p:nvSpPr>
        <p:spPr>
          <a:xfrm>
            <a:off x="4888483" y="2379991"/>
            <a:ext cx="3937000" cy="1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563"/>
              </a:lnSpc>
            </a:pPr>
            <a:r>
              <a:rPr lang="en-US" sz="1875" b="1" dirty="0">
                <a:solidFill>
                  <a:srgbClr val="272525"/>
                </a:solidFill>
                <a:latin typeface="Segoe UI" pitchFamily="34"/>
              </a:rPr>
              <a:t>Compliance &amp; Privacy</a:t>
            </a:r>
          </a:p>
        </p:txBody>
      </p:sp>
      <p:sp>
        <p:nvSpPr>
          <p:cNvPr id="25" name="Text 23"/>
          <p:cNvSpPr/>
          <p:nvPr/>
        </p:nvSpPr>
        <p:spPr>
          <a:xfrm>
            <a:off x="4888483" y="2571732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500"/>
              </a:lnSpc>
            </a:pPr>
            <a:r>
              <a:rPr lang="en-US" sz="1500" dirty="0">
                <a:solidFill>
                  <a:srgbClr val="272525"/>
                </a:solidFill>
                <a:latin typeface="Segoe UI" pitchFamily="34"/>
              </a:rPr>
              <a:t>GDPR / data protection, audit logs, consent management</a:t>
            </a:r>
          </a:p>
        </p:txBody>
      </p:sp>
      <p:sp>
        <p:nvSpPr>
          <p:cNvPr id="26" name="Shape 24"/>
          <p:cNvSpPr/>
          <p:nvPr/>
        </p:nvSpPr>
        <p:spPr>
          <a:xfrm>
            <a:off x="4718075" y="3204192"/>
            <a:ext cx="28575" cy="5366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27" name="Text 25"/>
          <p:cNvSpPr/>
          <p:nvPr/>
        </p:nvSpPr>
        <p:spPr>
          <a:xfrm>
            <a:off x="4888483" y="3218480"/>
            <a:ext cx="3937000" cy="1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563"/>
              </a:lnSpc>
            </a:pPr>
            <a:r>
              <a:rPr lang="en-US" sz="1875" b="1" dirty="0">
                <a:solidFill>
                  <a:srgbClr val="272525"/>
                </a:solidFill>
                <a:latin typeface="Segoe UI" pitchFamily="34"/>
              </a:rPr>
              <a:t>AI Guardrails &amp; Safety</a:t>
            </a:r>
          </a:p>
        </p:txBody>
      </p:sp>
      <p:sp>
        <p:nvSpPr>
          <p:cNvPr id="28" name="Text 26"/>
          <p:cNvSpPr/>
          <p:nvPr/>
        </p:nvSpPr>
        <p:spPr>
          <a:xfrm>
            <a:off x="4888483" y="3393595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500"/>
              </a:lnSpc>
            </a:pPr>
            <a:r>
              <a:rPr lang="en-US" sz="1500" dirty="0">
                <a:solidFill>
                  <a:srgbClr val="272525"/>
                </a:solidFill>
                <a:latin typeface="Segoe UI" pitchFamily="34"/>
              </a:rPr>
              <a:t>Hallucination detection, content filtering, output validation</a:t>
            </a:r>
          </a:p>
        </p:txBody>
      </p:sp>
      <p:sp>
        <p:nvSpPr>
          <p:cNvPr id="29" name="Shape 27"/>
          <p:cNvSpPr/>
          <p:nvPr/>
        </p:nvSpPr>
        <p:spPr>
          <a:xfrm>
            <a:off x="4718075" y="3927229"/>
            <a:ext cx="28575" cy="5366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30" name="Text 28"/>
          <p:cNvSpPr/>
          <p:nvPr/>
        </p:nvSpPr>
        <p:spPr>
          <a:xfrm>
            <a:off x="4888483" y="3916578"/>
            <a:ext cx="3937000" cy="199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>
              <a:lnSpc>
                <a:spcPts val="1563"/>
              </a:lnSpc>
            </a:pPr>
            <a:r>
              <a:rPr lang="en-US" sz="1875" b="1" dirty="0">
                <a:solidFill>
                  <a:srgbClr val="272525"/>
                </a:solidFill>
                <a:latin typeface="Segoe UI" pitchFamily="34"/>
              </a:rPr>
              <a:t>Incident Response &amp; Runbooks</a:t>
            </a:r>
          </a:p>
        </p:txBody>
      </p:sp>
      <p:sp>
        <p:nvSpPr>
          <p:cNvPr id="31" name="Text 29"/>
          <p:cNvSpPr/>
          <p:nvPr/>
        </p:nvSpPr>
        <p:spPr>
          <a:xfrm>
            <a:off x="4888483" y="4116631"/>
            <a:ext cx="4000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500"/>
              </a:lnSpc>
            </a:pPr>
            <a:r>
              <a:rPr lang="en-US" sz="1500" dirty="0">
                <a:solidFill>
                  <a:srgbClr val="272525"/>
                </a:solidFill>
                <a:latin typeface="Segoe UI" pitchFamily="34"/>
              </a:rPr>
              <a:t>On-call playbooks, rollback procedures, SLA definitions</a:t>
            </a:r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0E37CC9F-7CE9-4185-627B-1BEF2CD10BBD}"/>
              </a:ext>
            </a:extLst>
          </p:cNvPr>
          <p:cNvSpPr/>
          <p:nvPr/>
        </p:nvSpPr>
        <p:spPr>
          <a:xfrm>
            <a:off x="4724171" y="2426170"/>
            <a:ext cx="28575" cy="5366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</p:spTree>
    <p:extLst>
      <p:ext uri="{BB962C8B-B14F-4D97-AF65-F5344CB8AC3E}">
        <p14:creationId xmlns:p14="http://schemas.microsoft.com/office/powerpoint/2010/main" val="396506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BD593-1CFB-B3D8-6F25-864F2A8EF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2217652-3FBD-1AC2-80F5-A19CB8AE48AA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1388C3-10C0-9A01-2E6B-31E8F0FE0148}"/>
              </a:ext>
            </a:extLst>
          </p:cNvPr>
          <p:cNvSpPr/>
          <p:nvPr/>
        </p:nvSpPr>
        <p:spPr>
          <a:xfrm>
            <a:off x="127000" y="1645920"/>
            <a:ext cx="8559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4950BC"/>
                </a:solidFill>
                <a:latin typeface="Segoe UI" pitchFamily="34" charset="0"/>
              </a:rPr>
              <a:t>Appendix</a:t>
            </a:r>
            <a:endParaRPr lang="en-US" sz="7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2C28329-57DD-C0C2-D7E2-0204336017D0}"/>
              </a:ext>
            </a:extLst>
          </p:cNvPr>
          <p:cNvSpPr/>
          <p:nvPr/>
        </p:nvSpPr>
        <p:spPr>
          <a:xfrm>
            <a:off x="3840480" y="2926080"/>
            <a:ext cx="1463040" cy="36576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 fontScale="250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48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932" y="255493"/>
            <a:ext cx="1795675" cy="5208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>
              <a:lnSpc>
                <a:spcPts val="2563"/>
              </a:lnSpc>
            </a:pPr>
            <a:r>
              <a:rPr lang="en-US" sz="2700" b="1" dirty="0">
                <a:solidFill>
                  <a:srgbClr val="000000"/>
                </a:solidFill>
                <a:latin typeface="Segoe UI" pitchFamily="34"/>
              </a:rPr>
              <a:t>Objective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31235" y="791096"/>
            <a:ext cx="7829130" cy="2925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125"/>
              </a:lnSpc>
            </a:pPr>
            <a:r>
              <a:rPr lang="en-US" sz="1220" dirty="0">
                <a:solidFill>
                  <a:srgbClr val="272525"/>
                </a:solidFill>
                <a:latin typeface="Segoe UI" pitchFamily="34"/>
              </a:rPr>
              <a:t>Build an AI-powered multimodal course discovery and recommendation system that acts as an intelligent academic assistant — understanding student intent and delivering personalized, structured guidance.</a:t>
            </a:r>
            <a:endParaRPr lang="en-US" sz="1220" dirty="0"/>
          </a:p>
        </p:txBody>
      </p:sp>
      <p:sp>
        <p:nvSpPr>
          <p:cNvPr id="5" name="Text 2"/>
          <p:cNvSpPr/>
          <p:nvPr/>
        </p:nvSpPr>
        <p:spPr>
          <a:xfrm>
            <a:off x="463579" y="1647777"/>
            <a:ext cx="4405515" cy="7519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>
              <a:lnSpc>
                <a:spcPts val="1281"/>
              </a:lnSpc>
            </a:pPr>
            <a:r>
              <a:rPr lang="en-US" b="1" dirty="0">
                <a:solidFill>
                  <a:srgbClr val="272525"/>
                </a:solidFill>
                <a:latin typeface="Segoe UI" pitchFamily="34"/>
              </a:rPr>
              <a:t>Multimodal Input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23932" y="1967918"/>
            <a:ext cx="4314075" cy="6701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>
              <a:lnSpc>
                <a:spcPts val="1125"/>
              </a:lnSpc>
            </a:pPr>
            <a:r>
              <a:rPr lang="en-US" sz="1200" dirty="0">
                <a:solidFill>
                  <a:srgbClr val="272525"/>
                </a:solidFill>
                <a:latin typeface="Segoe UI" pitchFamily="34"/>
              </a:rPr>
              <a:t>Accepts text, voice, or uploaded documents as query input.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71545" y="2370396"/>
            <a:ext cx="1795673" cy="408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>
              <a:lnSpc>
                <a:spcPts val="1281"/>
              </a:lnSpc>
            </a:pPr>
            <a:r>
              <a:rPr lang="en-US" b="1" dirty="0">
                <a:solidFill>
                  <a:srgbClr val="272525"/>
                </a:solidFill>
                <a:latin typeface="Segoe UI" pitchFamily="34"/>
              </a:rPr>
              <a:t>Intent Interpretation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31245" y="2701467"/>
            <a:ext cx="4314075" cy="451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125"/>
              </a:lnSpc>
            </a:pPr>
            <a:r>
              <a:rPr lang="en-US" sz="1220" dirty="0">
                <a:solidFill>
                  <a:srgbClr val="272525"/>
                </a:solidFill>
                <a:latin typeface="Segoe UI" pitchFamily="34"/>
              </a:rPr>
              <a:t>Interprets student learning intent beyond surface-level keywords.</a:t>
            </a:r>
            <a:endParaRPr lang="en-US" sz="1220" dirty="0"/>
          </a:p>
        </p:txBody>
      </p:sp>
      <p:sp>
        <p:nvSpPr>
          <p:cNvPr id="11" name="Text 6"/>
          <p:cNvSpPr/>
          <p:nvPr/>
        </p:nvSpPr>
        <p:spPr>
          <a:xfrm>
            <a:off x="456915" y="3226190"/>
            <a:ext cx="3208483" cy="2623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>
              <a:lnSpc>
                <a:spcPts val="1281"/>
              </a:lnSpc>
            </a:pPr>
            <a:r>
              <a:rPr lang="en-US" b="1" dirty="0">
                <a:solidFill>
                  <a:srgbClr val="272525"/>
                </a:solidFill>
                <a:latin typeface="Segoe UI" pitchFamily="34"/>
              </a:rPr>
              <a:t>Semantic Retrieval</a:t>
            </a: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522750" y="3602323"/>
            <a:ext cx="4314075" cy="2989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>
              <a:lnSpc>
                <a:spcPts val="1125"/>
              </a:lnSpc>
            </a:pPr>
            <a:r>
              <a:rPr lang="en-US" sz="1220" dirty="0">
                <a:solidFill>
                  <a:srgbClr val="272525"/>
                </a:solidFill>
                <a:latin typeface="Segoe UI" pitchFamily="34"/>
              </a:rPr>
              <a:t>Retrieves semantically relevant courses from the full catalog.</a:t>
            </a:r>
            <a:endParaRPr lang="en-US" sz="1220" dirty="0"/>
          </a:p>
        </p:txBody>
      </p:sp>
      <p:sp>
        <p:nvSpPr>
          <p:cNvPr id="14" name="Text 8"/>
          <p:cNvSpPr/>
          <p:nvPr/>
        </p:nvSpPr>
        <p:spPr>
          <a:xfrm>
            <a:off x="456915" y="4066136"/>
            <a:ext cx="3058853" cy="2623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>
              <a:lnSpc>
                <a:spcPts val="1281"/>
              </a:lnSpc>
            </a:pPr>
            <a:r>
              <a:rPr lang="en-US" b="1" dirty="0">
                <a:solidFill>
                  <a:srgbClr val="272525"/>
                </a:solidFill>
                <a:latin typeface="Segoe UI" pitchFamily="34"/>
              </a:rPr>
              <a:t>Intelligent Advisor</a:t>
            </a: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530064" y="4409781"/>
            <a:ext cx="4314075" cy="495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125"/>
              </a:lnSpc>
            </a:pPr>
            <a:r>
              <a:rPr lang="en-US" sz="1220" dirty="0">
                <a:solidFill>
                  <a:srgbClr val="272525"/>
                </a:solidFill>
                <a:latin typeface="Segoe UI" pitchFamily="34"/>
              </a:rPr>
              <a:t>Acts as a smart academic assistant guiding every step of the journey.</a:t>
            </a:r>
            <a:endParaRPr lang="en-US" sz="122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946" y="1307043"/>
            <a:ext cx="3496419" cy="349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146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709" y="464045"/>
            <a:ext cx="2999946" cy="3472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2719"/>
              </a:lnSpc>
            </a:pPr>
            <a:r>
              <a:rPr lang="en-US" sz="3234" b="1" dirty="0">
                <a:solidFill>
                  <a:srgbClr val="000000"/>
                </a:solidFill>
                <a:latin typeface="Segoe UI" pitchFamily="34"/>
              </a:rPr>
              <a:t>Key Capabilities</a:t>
            </a:r>
            <a:endParaRPr lang="en-US" sz="3234" dirty="0"/>
          </a:p>
        </p:txBody>
      </p:sp>
      <p:sp>
        <p:nvSpPr>
          <p:cNvPr id="3" name="Text 1"/>
          <p:cNvSpPr/>
          <p:nvPr/>
        </p:nvSpPr>
        <p:spPr>
          <a:xfrm>
            <a:off x="764927" y="1049989"/>
            <a:ext cx="8278217" cy="317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19"/>
              </a:lnSpc>
            </a:pPr>
            <a:r>
              <a:rPr lang="en-US" sz="1266" dirty="0">
                <a:solidFill>
                  <a:srgbClr val="272525"/>
                </a:solidFill>
                <a:latin typeface="Segoe UI" pitchFamily="34"/>
              </a:rPr>
              <a:t>Seven core capabilities power the intelligent course discovery experience — from understanding how a student asks a question to mapping their goals to a career track.</a:t>
            </a:r>
            <a:endParaRPr lang="en-US" sz="1266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8709" y="1566932"/>
            <a:ext cx="277713" cy="2777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8708" y="1953438"/>
            <a:ext cx="2437939" cy="1735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>
              <a:lnSpc>
                <a:spcPts val="1344"/>
              </a:lnSpc>
            </a:pPr>
            <a:r>
              <a:rPr lang="en-US" sz="1595" b="1" dirty="0">
                <a:solidFill>
                  <a:srgbClr val="272525"/>
                </a:solidFill>
                <a:latin typeface="Segoe UI" pitchFamily="34"/>
              </a:rPr>
              <a:t>Multimodal Query Understanding</a:t>
            </a:r>
            <a:endParaRPr lang="en-US" sz="1595" dirty="0"/>
          </a:p>
        </p:txBody>
      </p:sp>
      <p:sp>
        <p:nvSpPr>
          <p:cNvPr id="6" name="Text 3"/>
          <p:cNvSpPr/>
          <p:nvPr/>
        </p:nvSpPr>
        <p:spPr>
          <a:xfrm>
            <a:off x="738708" y="2179210"/>
            <a:ext cx="4081126" cy="317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19"/>
              </a:lnSpc>
            </a:pPr>
            <a:r>
              <a:rPr lang="en-US" sz="1266" dirty="0">
                <a:solidFill>
                  <a:srgbClr val="272525"/>
                </a:solidFill>
                <a:latin typeface="Segoe UI" pitchFamily="34"/>
              </a:rPr>
              <a:t>Accepts text, voice, and uploaded document descriptions as input for maximum accessibility.</a:t>
            </a:r>
            <a:endParaRPr lang="en-US" sz="1266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6323" y="1566932"/>
            <a:ext cx="277713" cy="2777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26322" y="1953438"/>
            <a:ext cx="1936367" cy="1735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>
              <a:lnSpc>
                <a:spcPts val="1344"/>
              </a:lnSpc>
            </a:pPr>
            <a:r>
              <a:rPr lang="en-US" sz="1595" b="1" dirty="0">
                <a:solidFill>
                  <a:srgbClr val="272525"/>
                </a:solidFill>
                <a:latin typeface="Segoe UI" pitchFamily="34"/>
              </a:rPr>
              <a:t>Semantic Course Retrieval</a:t>
            </a:r>
            <a:endParaRPr lang="en-US" sz="1595" dirty="0"/>
          </a:p>
        </p:txBody>
      </p:sp>
      <p:sp>
        <p:nvSpPr>
          <p:cNvPr id="9" name="Text 5"/>
          <p:cNvSpPr/>
          <p:nvPr/>
        </p:nvSpPr>
        <p:spPr>
          <a:xfrm>
            <a:off x="4626323" y="2179210"/>
            <a:ext cx="4081206" cy="317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19"/>
              </a:lnSpc>
            </a:pPr>
            <a:r>
              <a:rPr lang="en-US" sz="1266" dirty="0">
                <a:solidFill>
                  <a:srgbClr val="272525"/>
                </a:solidFill>
                <a:latin typeface="Segoe UI" pitchFamily="34"/>
              </a:rPr>
              <a:t>Goes beyond keyword matching to understand the true meaning behind a student's learning goal.</a:t>
            </a:r>
            <a:endParaRPr lang="en-US" sz="1266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8709" y="2670344"/>
            <a:ext cx="277713" cy="2777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8708" y="3056850"/>
            <a:ext cx="1611763" cy="1735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>
              <a:lnSpc>
                <a:spcPts val="1344"/>
              </a:lnSpc>
            </a:pPr>
            <a:r>
              <a:rPr lang="en-US" sz="1595" b="1" dirty="0">
                <a:solidFill>
                  <a:srgbClr val="272525"/>
                </a:solidFill>
                <a:latin typeface="Segoe UI" pitchFamily="34"/>
              </a:rPr>
              <a:t>Relevance Assistance</a:t>
            </a:r>
            <a:endParaRPr lang="en-US" sz="1595" dirty="0"/>
          </a:p>
        </p:txBody>
      </p:sp>
      <p:sp>
        <p:nvSpPr>
          <p:cNvPr id="12" name="Text 7"/>
          <p:cNvSpPr/>
          <p:nvPr/>
        </p:nvSpPr>
        <p:spPr>
          <a:xfrm>
            <a:off x="738708" y="3282622"/>
            <a:ext cx="4081126" cy="317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19"/>
              </a:lnSpc>
            </a:pPr>
            <a:r>
              <a:rPr lang="en-US" sz="1266" dirty="0">
                <a:solidFill>
                  <a:srgbClr val="272525"/>
                </a:solidFill>
                <a:latin typeface="Segoe UI" pitchFamily="34"/>
              </a:rPr>
              <a:t>Explains </a:t>
            </a:r>
            <a:r>
              <a:rPr lang="en-US" sz="1266" i="1" dirty="0">
                <a:solidFill>
                  <a:srgbClr val="272525"/>
                </a:solidFill>
                <a:latin typeface="Segoe UI" pitchFamily="34"/>
              </a:rPr>
              <a:t>why</a:t>
            </a:r>
            <a:r>
              <a:rPr lang="en-US" sz="1266" dirty="0">
                <a:solidFill>
                  <a:srgbClr val="272525"/>
                </a:solidFill>
                <a:latin typeface="Segoe UI" pitchFamily="34"/>
              </a:rPr>
              <a:t> each course is recommended, building student trust and confidence.</a:t>
            </a:r>
            <a:endParaRPr lang="en-US" sz="1266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6323" y="2670344"/>
            <a:ext cx="277713" cy="2777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26323" y="3056850"/>
            <a:ext cx="1735529" cy="1735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>
              <a:lnSpc>
                <a:spcPts val="1344"/>
              </a:lnSpc>
            </a:pPr>
            <a:r>
              <a:rPr lang="en-US" sz="1595" b="1" dirty="0">
                <a:solidFill>
                  <a:srgbClr val="272525"/>
                </a:solidFill>
                <a:latin typeface="Segoe UI" pitchFamily="34"/>
              </a:rPr>
              <a:t>Prerequisite Awareness</a:t>
            </a:r>
            <a:endParaRPr lang="en-US" sz="1595" dirty="0"/>
          </a:p>
        </p:txBody>
      </p:sp>
      <p:sp>
        <p:nvSpPr>
          <p:cNvPr id="15" name="Text 9"/>
          <p:cNvSpPr/>
          <p:nvPr/>
        </p:nvSpPr>
        <p:spPr>
          <a:xfrm>
            <a:off x="4626323" y="3282622"/>
            <a:ext cx="4081206" cy="317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19"/>
              </a:lnSpc>
            </a:pPr>
            <a:r>
              <a:rPr lang="en-US" sz="1266" dirty="0">
                <a:solidFill>
                  <a:srgbClr val="272525"/>
                </a:solidFill>
                <a:latin typeface="Segoe UI" pitchFamily="34"/>
              </a:rPr>
              <a:t>Checks whether the student has the required background before recommending advanced courses.</a:t>
            </a:r>
            <a:endParaRPr lang="en-US" sz="1266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38709" y="3773756"/>
            <a:ext cx="277713" cy="27771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38708" y="4160262"/>
            <a:ext cx="1646401" cy="1735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>
              <a:lnSpc>
                <a:spcPts val="1344"/>
              </a:lnSpc>
            </a:pPr>
            <a:r>
              <a:rPr lang="en-US" sz="1595" b="1" dirty="0">
                <a:solidFill>
                  <a:srgbClr val="272525"/>
                </a:solidFill>
                <a:latin typeface="Segoe UI" pitchFamily="34"/>
              </a:rPr>
              <a:t>Skill Gap Identification</a:t>
            </a:r>
            <a:endParaRPr lang="en-US" sz="1595" dirty="0"/>
          </a:p>
        </p:txBody>
      </p:sp>
      <p:sp>
        <p:nvSpPr>
          <p:cNvPr id="18" name="Text 11"/>
          <p:cNvSpPr/>
          <p:nvPr/>
        </p:nvSpPr>
        <p:spPr>
          <a:xfrm>
            <a:off x="738708" y="4386034"/>
            <a:ext cx="4081126" cy="317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19"/>
              </a:lnSpc>
            </a:pPr>
            <a:r>
              <a:rPr lang="en-US" sz="1266" dirty="0">
                <a:solidFill>
                  <a:srgbClr val="272525"/>
                </a:solidFill>
                <a:latin typeface="Segoe UI" pitchFamily="34"/>
              </a:rPr>
              <a:t>Suggests foundational courses to fill knowledge gaps before tackling advanced material.</a:t>
            </a:r>
            <a:endParaRPr lang="en-US" sz="1266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26323" y="3773756"/>
            <a:ext cx="277713" cy="27771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26323" y="4160262"/>
            <a:ext cx="2418088" cy="1735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>
              <a:lnSpc>
                <a:spcPts val="1344"/>
              </a:lnSpc>
            </a:pPr>
            <a:r>
              <a:rPr lang="en-US" sz="1595" b="1" dirty="0">
                <a:solidFill>
                  <a:srgbClr val="272525"/>
                </a:solidFill>
                <a:latin typeface="Segoe UI" pitchFamily="34"/>
              </a:rPr>
              <a:t>Learning Path Recommendations</a:t>
            </a:r>
            <a:endParaRPr lang="en-US" sz="1595" dirty="0"/>
          </a:p>
        </p:txBody>
      </p:sp>
      <p:sp>
        <p:nvSpPr>
          <p:cNvPr id="21" name="Text 13"/>
          <p:cNvSpPr/>
          <p:nvPr/>
        </p:nvSpPr>
        <p:spPr>
          <a:xfrm>
            <a:off x="4626323" y="4386034"/>
            <a:ext cx="4081206" cy="317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19"/>
              </a:lnSpc>
            </a:pPr>
            <a:r>
              <a:rPr lang="en-US" sz="1266" dirty="0">
                <a:solidFill>
                  <a:srgbClr val="272525"/>
                </a:solidFill>
                <a:latin typeface="Segoe UI" pitchFamily="34"/>
              </a:rPr>
              <a:t>Generates structured intro → advanced course sequences tailored to each learner.</a:t>
            </a:r>
            <a:endParaRPr lang="en-US" sz="1266" dirty="0"/>
          </a:p>
        </p:txBody>
      </p:sp>
    </p:spTree>
    <p:extLst>
      <p:ext uri="{BB962C8B-B14F-4D97-AF65-F5344CB8AC3E}">
        <p14:creationId xmlns:p14="http://schemas.microsoft.com/office/powerpoint/2010/main" val="3740514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5360" y="322065"/>
            <a:ext cx="4347624" cy="293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>
              <a:lnSpc>
                <a:spcPts val="2281"/>
              </a:lnSpc>
            </a:pPr>
            <a:r>
              <a:rPr lang="en-US" sz="2766" b="1" dirty="0">
                <a:solidFill>
                  <a:srgbClr val="000000"/>
                </a:solidFill>
                <a:latin typeface="Segoe UI" pitchFamily="34"/>
              </a:rPr>
              <a:t>Advanced: Hybrid Course Retrieval</a:t>
            </a:r>
            <a:endParaRPr lang="en-US" sz="2766" dirty="0"/>
          </a:p>
        </p:txBody>
      </p:sp>
      <p:sp>
        <p:nvSpPr>
          <p:cNvPr id="3" name="Text 1"/>
          <p:cNvSpPr/>
          <p:nvPr/>
        </p:nvSpPr>
        <p:spPr>
          <a:xfrm>
            <a:off x="1335361" y="739378"/>
            <a:ext cx="6991141" cy="249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>
              <a:lnSpc>
                <a:spcPts val="969"/>
              </a:lnSpc>
            </a:pPr>
            <a:r>
              <a:rPr lang="en-US" sz="1079" dirty="0">
                <a:solidFill>
                  <a:srgbClr val="272525"/>
                </a:solidFill>
                <a:latin typeface="Segoe UI" pitchFamily="34"/>
              </a:rPr>
              <a:t>The retrieval layer combines the best of vector-based semantic search and traditional keyword matching, then applies cross-encoder reranking to surface the most relevant results.</a:t>
            </a:r>
            <a:endParaRPr lang="en-US" sz="1079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020" y="1058615"/>
            <a:ext cx="6265962" cy="2351261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0205" y="1657523"/>
            <a:ext cx="323660" cy="32366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01844" y="2748055"/>
            <a:ext cx="1020695" cy="364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algn="ctr">
              <a:lnSpc>
                <a:spcPts val="1406"/>
              </a:lnSpc>
            </a:pPr>
            <a:r>
              <a:rPr lang="en-US" sz="1688" b="1" dirty="0">
                <a:solidFill>
                  <a:srgbClr val="272525"/>
                </a:solidFill>
                <a:latin typeface="Segoe UI" pitchFamily="34"/>
              </a:rPr>
              <a:t>Final Ranking</a:t>
            </a:r>
            <a:endParaRPr lang="en-US" sz="1688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05305" y="1658130"/>
            <a:ext cx="323660" cy="32366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10775" y="2748055"/>
            <a:ext cx="1020695" cy="364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algn="ctr">
              <a:lnSpc>
                <a:spcPts val="1406"/>
              </a:lnSpc>
            </a:pPr>
            <a:r>
              <a:rPr lang="en-US" sz="1688" b="1" dirty="0">
                <a:solidFill>
                  <a:srgbClr val="272525"/>
                </a:solidFill>
                <a:latin typeface="Segoe UI" pitchFamily="34"/>
              </a:rPr>
              <a:t>Cross-Encoder</a:t>
            </a:r>
            <a:endParaRPr lang="en-US" sz="1688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20708" y="1658130"/>
            <a:ext cx="323660" cy="32366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126178" y="2748055"/>
            <a:ext cx="1020695" cy="364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algn="ctr">
              <a:lnSpc>
                <a:spcPts val="1406"/>
              </a:lnSpc>
            </a:pPr>
            <a:r>
              <a:rPr lang="en-US" sz="1688" b="1" dirty="0">
                <a:solidFill>
                  <a:srgbClr val="272525"/>
                </a:solidFill>
                <a:latin typeface="Segoe UI" pitchFamily="34"/>
              </a:rPr>
              <a:t>Hybrid Fusion</a:t>
            </a:r>
            <a:endParaRPr lang="en-US" sz="1688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36111" y="1658130"/>
            <a:ext cx="323660" cy="32366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941581" y="2748055"/>
            <a:ext cx="1020695" cy="364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algn="ctr">
              <a:lnSpc>
                <a:spcPts val="1406"/>
              </a:lnSpc>
            </a:pPr>
            <a:r>
              <a:rPr lang="en-US" sz="1688" b="1" dirty="0">
                <a:solidFill>
                  <a:srgbClr val="272525"/>
                </a:solidFill>
                <a:latin typeface="Segoe UI" pitchFamily="34"/>
              </a:rPr>
              <a:t>Keyword Matching</a:t>
            </a:r>
            <a:endParaRPr lang="en-US" sz="1688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45042" y="1658130"/>
            <a:ext cx="323661" cy="323661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731092" y="2748055"/>
            <a:ext cx="1020695" cy="364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algn="ctr">
              <a:lnSpc>
                <a:spcPts val="1406"/>
              </a:lnSpc>
            </a:pPr>
            <a:r>
              <a:rPr lang="en-US" sz="1688" b="1" dirty="0">
                <a:solidFill>
                  <a:srgbClr val="272525"/>
                </a:solidFill>
                <a:latin typeface="Segoe UI" pitchFamily="34"/>
              </a:rPr>
              <a:t>Dense Embeddings</a:t>
            </a:r>
            <a:endParaRPr lang="en-US" sz="1688" dirty="0"/>
          </a:p>
        </p:txBody>
      </p:sp>
      <p:sp>
        <p:nvSpPr>
          <p:cNvPr id="15" name="Shape 7"/>
          <p:cNvSpPr/>
          <p:nvPr/>
        </p:nvSpPr>
        <p:spPr>
          <a:xfrm>
            <a:off x="1335361" y="3479677"/>
            <a:ext cx="3205609" cy="639812"/>
          </a:xfrm>
          <a:prstGeom prst="roundRect">
            <a:avLst>
              <a:gd name="adj" fmla="val 6159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6" name="Text 8"/>
          <p:cNvSpPr/>
          <p:nvPr/>
        </p:nvSpPr>
        <p:spPr>
          <a:xfrm>
            <a:off x="1438647" y="3582963"/>
            <a:ext cx="1266506" cy="146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1125"/>
              </a:lnSpc>
            </a:pPr>
            <a:r>
              <a:rPr lang="en-US" sz="1359" b="1" dirty="0">
                <a:solidFill>
                  <a:srgbClr val="272525"/>
                </a:solidFill>
                <a:latin typeface="Segoe UI" pitchFamily="34"/>
              </a:rPr>
              <a:t>Vector Embeddings</a:t>
            </a:r>
            <a:endParaRPr lang="en-US" sz="1359" dirty="0"/>
          </a:p>
        </p:txBody>
      </p:sp>
      <p:sp>
        <p:nvSpPr>
          <p:cNvPr id="17" name="Text 9"/>
          <p:cNvSpPr/>
          <p:nvPr/>
        </p:nvSpPr>
        <p:spPr>
          <a:xfrm>
            <a:off x="1438647" y="3766766"/>
            <a:ext cx="3238958" cy="249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>
              <a:lnSpc>
                <a:spcPts val="969"/>
              </a:lnSpc>
            </a:pPr>
            <a:r>
              <a:rPr lang="en-US" sz="1079" dirty="0">
                <a:solidFill>
                  <a:srgbClr val="272525"/>
                </a:solidFill>
                <a:latin typeface="Segoe UI" pitchFamily="34"/>
              </a:rPr>
              <a:t>Dense semantic representations capture meaning, context, and conceptual similarity between queries and course descriptions.</a:t>
            </a:r>
            <a:endParaRPr lang="en-US" sz="1079" dirty="0"/>
          </a:p>
        </p:txBody>
      </p:sp>
      <p:sp>
        <p:nvSpPr>
          <p:cNvPr id="18" name="Shape 10"/>
          <p:cNvSpPr/>
          <p:nvPr/>
        </p:nvSpPr>
        <p:spPr>
          <a:xfrm>
            <a:off x="4603031" y="3479677"/>
            <a:ext cx="3205609" cy="639812"/>
          </a:xfrm>
          <a:prstGeom prst="roundRect">
            <a:avLst>
              <a:gd name="adj" fmla="val 6159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9" name="Text 11"/>
          <p:cNvSpPr/>
          <p:nvPr/>
        </p:nvSpPr>
        <p:spPr>
          <a:xfrm>
            <a:off x="4706318" y="3582963"/>
            <a:ext cx="1266506" cy="146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1125"/>
              </a:lnSpc>
            </a:pPr>
            <a:r>
              <a:rPr lang="en-US" sz="1359" b="1" dirty="0">
                <a:solidFill>
                  <a:srgbClr val="272525"/>
                </a:solidFill>
                <a:latin typeface="Segoe UI" pitchFamily="34"/>
              </a:rPr>
              <a:t>Keyword Retrieval</a:t>
            </a:r>
            <a:endParaRPr lang="en-US" sz="1359" dirty="0"/>
          </a:p>
        </p:txBody>
      </p:sp>
      <p:sp>
        <p:nvSpPr>
          <p:cNvPr id="20" name="Text 12"/>
          <p:cNvSpPr/>
          <p:nvPr/>
        </p:nvSpPr>
        <p:spPr>
          <a:xfrm>
            <a:off x="4706318" y="3766766"/>
            <a:ext cx="3238958" cy="249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>
              <a:lnSpc>
                <a:spcPts val="969"/>
              </a:lnSpc>
            </a:pPr>
            <a:r>
              <a:rPr lang="en-US" sz="1079" dirty="0">
                <a:solidFill>
                  <a:srgbClr val="272525"/>
                </a:solidFill>
                <a:latin typeface="Segoe UI" pitchFamily="34"/>
              </a:rPr>
              <a:t>BM25 lexical matching ensures exact terminology and domain-specific terms are never missed.</a:t>
            </a:r>
            <a:endParaRPr lang="en-US" sz="1079" dirty="0"/>
          </a:p>
        </p:txBody>
      </p:sp>
      <p:sp>
        <p:nvSpPr>
          <p:cNvPr id="21" name="Shape 13"/>
          <p:cNvSpPr/>
          <p:nvPr/>
        </p:nvSpPr>
        <p:spPr>
          <a:xfrm>
            <a:off x="1335361" y="4181550"/>
            <a:ext cx="3205609" cy="639812"/>
          </a:xfrm>
          <a:prstGeom prst="roundRect">
            <a:avLst>
              <a:gd name="adj" fmla="val 6159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22" name="Text 14"/>
          <p:cNvSpPr/>
          <p:nvPr/>
        </p:nvSpPr>
        <p:spPr>
          <a:xfrm>
            <a:off x="1438647" y="4284836"/>
            <a:ext cx="1266506" cy="146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1125"/>
              </a:lnSpc>
            </a:pPr>
            <a:r>
              <a:rPr lang="en-US" sz="1359" b="1" dirty="0">
                <a:solidFill>
                  <a:srgbClr val="272525"/>
                </a:solidFill>
                <a:latin typeface="Segoe UI" pitchFamily="34"/>
              </a:rPr>
              <a:t>Dynamic Filtering</a:t>
            </a:r>
            <a:endParaRPr lang="en-US" sz="1359" dirty="0"/>
          </a:p>
        </p:txBody>
      </p:sp>
      <p:sp>
        <p:nvSpPr>
          <p:cNvPr id="23" name="Text 15"/>
          <p:cNvSpPr/>
          <p:nvPr/>
        </p:nvSpPr>
        <p:spPr>
          <a:xfrm>
            <a:off x="1438647" y="4468639"/>
            <a:ext cx="3238958" cy="249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>
              <a:lnSpc>
                <a:spcPts val="969"/>
              </a:lnSpc>
            </a:pPr>
            <a:r>
              <a:rPr lang="en-US" sz="1079" dirty="0">
                <a:solidFill>
                  <a:srgbClr val="272525"/>
                </a:solidFill>
                <a:latin typeface="Segoe UI" pitchFamily="34"/>
              </a:rPr>
              <a:t>Filter by difficulty, rating, organization, and skill category to narrow results to what matters most.</a:t>
            </a:r>
            <a:endParaRPr lang="en-US" sz="1079" dirty="0"/>
          </a:p>
        </p:txBody>
      </p:sp>
      <p:sp>
        <p:nvSpPr>
          <p:cNvPr id="24" name="Shape 16"/>
          <p:cNvSpPr/>
          <p:nvPr/>
        </p:nvSpPr>
        <p:spPr>
          <a:xfrm>
            <a:off x="4603031" y="4181550"/>
            <a:ext cx="3205609" cy="639812"/>
          </a:xfrm>
          <a:prstGeom prst="roundRect">
            <a:avLst>
              <a:gd name="adj" fmla="val 6159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25" name="Text 17"/>
          <p:cNvSpPr/>
          <p:nvPr/>
        </p:nvSpPr>
        <p:spPr>
          <a:xfrm>
            <a:off x="4706318" y="4284836"/>
            <a:ext cx="1590868" cy="1465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1125"/>
              </a:lnSpc>
            </a:pPr>
            <a:r>
              <a:rPr lang="en-US" sz="1359" b="1" dirty="0">
                <a:solidFill>
                  <a:srgbClr val="272525"/>
                </a:solidFill>
                <a:latin typeface="Segoe UI" pitchFamily="34"/>
              </a:rPr>
              <a:t>Cross-Encoder Reranking</a:t>
            </a:r>
            <a:endParaRPr lang="en-US" sz="1359" dirty="0"/>
          </a:p>
        </p:txBody>
      </p:sp>
      <p:sp>
        <p:nvSpPr>
          <p:cNvPr id="26" name="Text 18"/>
          <p:cNvSpPr/>
          <p:nvPr/>
        </p:nvSpPr>
        <p:spPr>
          <a:xfrm>
            <a:off x="4706318" y="4468639"/>
            <a:ext cx="3238958" cy="249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>
              <a:lnSpc>
                <a:spcPts val="969"/>
              </a:lnSpc>
            </a:pPr>
            <a:r>
              <a:rPr lang="en-US" sz="1079" dirty="0">
                <a:solidFill>
                  <a:srgbClr val="272525"/>
                </a:solidFill>
                <a:latin typeface="Segoe UI" pitchFamily="34"/>
              </a:rPr>
              <a:t>A cross-encoder model re-scores candidate courses for improved recommendation quality and precision.</a:t>
            </a:r>
            <a:endParaRPr lang="en-US" sz="1079" dirty="0"/>
          </a:p>
        </p:txBody>
      </p:sp>
    </p:spTree>
    <p:extLst>
      <p:ext uri="{BB962C8B-B14F-4D97-AF65-F5344CB8AC3E}">
        <p14:creationId xmlns:p14="http://schemas.microsoft.com/office/powerpoint/2010/main" val="37989454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8120"/>
            <a:ext cx="467174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>
              <a:lnSpc>
                <a:spcPts val="3469"/>
              </a:lnSpc>
            </a:pPr>
            <a:r>
              <a:rPr lang="en-US" sz="2700" b="1" dirty="0">
                <a:solidFill>
                  <a:srgbClr val="000000"/>
                </a:solidFill>
                <a:latin typeface="Segoe UI" pitchFamily="34"/>
              </a:rPr>
              <a:t>Multi-Agent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11972" y="1217556"/>
            <a:ext cx="85208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>
              <a:lnSpc>
                <a:spcPts val="1781"/>
              </a:lnSpc>
            </a:pPr>
            <a:r>
              <a:rPr lang="en-US" sz="1641" dirty="0">
                <a:solidFill>
                  <a:srgbClr val="272525"/>
                </a:solidFill>
                <a:latin typeface="Segoe UI" pitchFamily="34"/>
              </a:rPr>
              <a:t>A collaborative multi-agent system where specialized agents handle distinct responsibilities and communicate to deliver a unified, intelligent recommendation experience.</a:t>
            </a:r>
            <a:endParaRPr lang="en-US" sz="1641" dirty="0"/>
          </a:p>
        </p:txBody>
      </p:sp>
      <p:sp>
        <p:nvSpPr>
          <p:cNvPr id="4" name="Shape 2"/>
          <p:cNvSpPr/>
          <p:nvPr/>
        </p:nvSpPr>
        <p:spPr>
          <a:xfrm>
            <a:off x="496119" y="2107258"/>
            <a:ext cx="8151763" cy="2268587"/>
          </a:xfrm>
          <a:prstGeom prst="roundRect">
            <a:avLst>
              <a:gd name="adj" fmla="val 262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5" name="Shape 3"/>
          <p:cNvSpPr/>
          <p:nvPr/>
        </p:nvSpPr>
        <p:spPr>
          <a:xfrm>
            <a:off x="500882" y="2112021"/>
            <a:ext cx="8142238" cy="40644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6" name="Text 4"/>
          <p:cNvSpPr/>
          <p:nvPr/>
        </p:nvSpPr>
        <p:spPr>
          <a:xfrm>
            <a:off x="642715" y="2201838"/>
            <a:ext cx="18895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1781"/>
              </a:lnSpc>
            </a:pPr>
            <a:r>
              <a:rPr lang="en-US" sz="1641" b="1" dirty="0">
                <a:solidFill>
                  <a:srgbClr val="272525"/>
                </a:solidFill>
                <a:latin typeface="Segoe UI" pitchFamily="34"/>
              </a:rPr>
              <a:t>Course Retrieval Agent</a:t>
            </a:r>
            <a:endParaRPr lang="en-US" sz="1641" dirty="0"/>
          </a:p>
        </p:txBody>
      </p:sp>
      <p:sp>
        <p:nvSpPr>
          <p:cNvPr id="7" name="Text 5"/>
          <p:cNvSpPr/>
          <p:nvPr/>
        </p:nvSpPr>
        <p:spPr>
          <a:xfrm>
            <a:off x="2702562" y="2201838"/>
            <a:ext cx="628640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1781"/>
              </a:lnSpc>
            </a:pPr>
            <a:r>
              <a:rPr lang="en-US" sz="1641" dirty="0">
                <a:solidFill>
                  <a:srgbClr val="272525"/>
                </a:solidFill>
                <a:latin typeface="Segoe UI" pitchFamily="34"/>
              </a:rPr>
              <a:t>Retrieves relevant courses from the catalog using hybrid semantic search</a:t>
            </a:r>
            <a:endParaRPr lang="en-US" sz="1641" dirty="0"/>
          </a:p>
        </p:txBody>
      </p:sp>
      <p:sp>
        <p:nvSpPr>
          <p:cNvPr id="8" name="Shape 6"/>
          <p:cNvSpPr/>
          <p:nvPr/>
        </p:nvSpPr>
        <p:spPr>
          <a:xfrm>
            <a:off x="500882" y="2518470"/>
            <a:ext cx="8142238" cy="40644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9" name="Text 7"/>
          <p:cNvSpPr/>
          <p:nvPr/>
        </p:nvSpPr>
        <p:spPr>
          <a:xfrm>
            <a:off x="642715" y="2608288"/>
            <a:ext cx="18895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1781"/>
              </a:lnSpc>
            </a:pPr>
            <a:r>
              <a:rPr lang="en-US" sz="1641" b="1" dirty="0">
                <a:solidFill>
                  <a:srgbClr val="272525"/>
                </a:solidFill>
                <a:latin typeface="Segoe UI" pitchFamily="34"/>
              </a:rPr>
              <a:t>Skill Gap Analysis Agent</a:t>
            </a:r>
            <a:endParaRPr lang="en-US" sz="1641" dirty="0"/>
          </a:p>
        </p:txBody>
      </p:sp>
      <p:sp>
        <p:nvSpPr>
          <p:cNvPr id="10" name="Text 8"/>
          <p:cNvSpPr/>
          <p:nvPr/>
        </p:nvSpPr>
        <p:spPr>
          <a:xfrm>
            <a:off x="2709877" y="2608288"/>
            <a:ext cx="628640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1781"/>
              </a:lnSpc>
            </a:pPr>
            <a:r>
              <a:rPr lang="en-US" sz="1641" dirty="0">
                <a:solidFill>
                  <a:srgbClr val="272525"/>
                </a:solidFill>
                <a:latin typeface="Segoe UI" pitchFamily="34"/>
              </a:rPr>
              <a:t>Identifies missing prerequisite skills and recommends foundational courses</a:t>
            </a:r>
            <a:endParaRPr lang="en-US" sz="1641" dirty="0"/>
          </a:p>
        </p:txBody>
      </p:sp>
      <p:sp>
        <p:nvSpPr>
          <p:cNvPr id="11" name="Shape 9"/>
          <p:cNvSpPr/>
          <p:nvPr/>
        </p:nvSpPr>
        <p:spPr>
          <a:xfrm>
            <a:off x="500882" y="2924919"/>
            <a:ext cx="8142238" cy="6332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2" name="Text 10"/>
          <p:cNvSpPr/>
          <p:nvPr/>
        </p:nvSpPr>
        <p:spPr>
          <a:xfrm>
            <a:off x="642715" y="3014737"/>
            <a:ext cx="188959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>
              <a:lnSpc>
                <a:spcPts val="1781"/>
              </a:lnSpc>
            </a:pPr>
            <a:r>
              <a:rPr lang="en-US" sz="1641" b="1" dirty="0">
                <a:solidFill>
                  <a:srgbClr val="272525"/>
                </a:solidFill>
                <a:latin typeface="Segoe UI" pitchFamily="34"/>
              </a:rPr>
              <a:t>Learning Path Planning Agent</a:t>
            </a:r>
            <a:endParaRPr lang="en-US" sz="1641" dirty="0"/>
          </a:p>
        </p:txBody>
      </p:sp>
      <p:sp>
        <p:nvSpPr>
          <p:cNvPr id="13" name="Text 11"/>
          <p:cNvSpPr/>
          <p:nvPr/>
        </p:nvSpPr>
        <p:spPr>
          <a:xfrm>
            <a:off x="2680617" y="3124464"/>
            <a:ext cx="628640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1781"/>
              </a:lnSpc>
            </a:pPr>
            <a:r>
              <a:rPr lang="en-US" sz="1641" dirty="0">
                <a:solidFill>
                  <a:srgbClr val="272525"/>
                </a:solidFill>
                <a:latin typeface="Segoe UI" pitchFamily="34"/>
              </a:rPr>
              <a:t>Generates structured, sequenced course paths from beginner to advanced</a:t>
            </a:r>
            <a:endParaRPr lang="en-US" sz="1641" dirty="0"/>
          </a:p>
        </p:txBody>
      </p:sp>
      <p:sp>
        <p:nvSpPr>
          <p:cNvPr id="14" name="Shape 12"/>
          <p:cNvSpPr/>
          <p:nvPr/>
        </p:nvSpPr>
        <p:spPr>
          <a:xfrm>
            <a:off x="500882" y="3558184"/>
            <a:ext cx="8142238" cy="40644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5" name="Text 13"/>
          <p:cNvSpPr/>
          <p:nvPr/>
        </p:nvSpPr>
        <p:spPr>
          <a:xfrm>
            <a:off x="642715" y="3648001"/>
            <a:ext cx="18895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1781"/>
              </a:lnSpc>
            </a:pPr>
            <a:r>
              <a:rPr lang="en-US" sz="1641" b="1" dirty="0">
                <a:solidFill>
                  <a:srgbClr val="272525"/>
                </a:solidFill>
                <a:latin typeface="Segoe UI" pitchFamily="34"/>
              </a:rPr>
              <a:t>Career Alignment Agent</a:t>
            </a:r>
            <a:endParaRPr lang="en-US" sz="1641" dirty="0"/>
          </a:p>
        </p:txBody>
      </p:sp>
      <p:sp>
        <p:nvSpPr>
          <p:cNvPr id="16" name="Text 14"/>
          <p:cNvSpPr/>
          <p:nvPr/>
        </p:nvSpPr>
        <p:spPr>
          <a:xfrm>
            <a:off x="2680617" y="3648001"/>
            <a:ext cx="628640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1781"/>
              </a:lnSpc>
            </a:pPr>
            <a:r>
              <a:rPr lang="en-US" sz="1641" dirty="0">
                <a:solidFill>
                  <a:srgbClr val="272525"/>
                </a:solidFill>
                <a:latin typeface="Segoe UI" pitchFamily="34"/>
              </a:rPr>
              <a:t>Maps recommended courses to specific career tracks (AI, data science, finance, SWE)</a:t>
            </a:r>
            <a:endParaRPr lang="en-US" sz="1641" dirty="0"/>
          </a:p>
        </p:txBody>
      </p:sp>
      <p:sp>
        <p:nvSpPr>
          <p:cNvPr id="17" name="Shape 15"/>
          <p:cNvSpPr/>
          <p:nvPr/>
        </p:nvSpPr>
        <p:spPr>
          <a:xfrm>
            <a:off x="500882" y="3964633"/>
            <a:ext cx="8142238" cy="40644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8" name="Text 16"/>
          <p:cNvSpPr/>
          <p:nvPr/>
        </p:nvSpPr>
        <p:spPr>
          <a:xfrm>
            <a:off x="642715" y="4054451"/>
            <a:ext cx="188959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1781"/>
              </a:lnSpc>
            </a:pPr>
            <a:r>
              <a:rPr lang="en-US" sz="1641" b="1" dirty="0">
                <a:solidFill>
                  <a:srgbClr val="272525"/>
                </a:solidFill>
                <a:latin typeface="Segoe UI" pitchFamily="34"/>
              </a:rPr>
              <a:t>Learning Advisor Agent</a:t>
            </a:r>
            <a:endParaRPr lang="en-US" sz="1641" dirty="0"/>
          </a:p>
        </p:txBody>
      </p:sp>
      <p:sp>
        <p:nvSpPr>
          <p:cNvPr id="19" name="Text 17"/>
          <p:cNvSpPr/>
          <p:nvPr/>
        </p:nvSpPr>
        <p:spPr>
          <a:xfrm>
            <a:off x="2680617" y="4054451"/>
            <a:ext cx="628640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1781"/>
              </a:lnSpc>
            </a:pPr>
            <a:r>
              <a:rPr lang="en-US" sz="1641" dirty="0">
                <a:solidFill>
                  <a:srgbClr val="272525"/>
                </a:solidFill>
                <a:latin typeface="Segoe UI" pitchFamily="34"/>
              </a:rPr>
              <a:t>Synthesizes all agent outputs into a final, coherent recommendation summary</a:t>
            </a:r>
            <a:endParaRPr lang="en-US" sz="1641" dirty="0"/>
          </a:p>
        </p:txBody>
      </p:sp>
    </p:spTree>
    <p:extLst>
      <p:ext uri="{BB962C8B-B14F-4D97-AF65-F5344CB8AC3E}">
        <p14:creationId xmlns:p14="http://schemas.microsoft.com/office/powerpoint/2010/main" val="20823390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210" y="231501"/>
            <a:ext cx="2614264" cy="2771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>
              <a:lnSpc>
                <a:spcPts val="2156"/>
              </a:lnSpc>
            </a:pPr>
            <a:r>
              <a:rPr lang="en-US" sz="2579" b="1" dirty="0">
                <a:solidFill>
                  <a:srgbClr val="000000"/>
                </a:solidFill>
                <a:latin typeface="Segoe UI" pitchFamily="34"/>
              </a:rPr>
              <a:t>Additional Intelligence</a:t>
            </a:r>
            <a:endParaRPr lang="en-US" sz="2579" dirty="0"/>
          </a:p>
        </p:txBody>
      </p:sp>
      <p:sp>
        <p:nvSpPr>
          <p:cNvPr id="3" name="Text 1"/>
          <p:cNvSpPr/>
          <p:nvPr/>
        </p:nvSpPr>
        <p:spPr>
          <a:xfrm>
            <a:off x="565767" y="696404"/>
            <a:ext cx="1599788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>
              <a:lnSpc>
                <a:spcPts val="1063"/>
              </a:lnSpc>
            </a:pPr>
            <a:r>
              <a:rPr lang="en-US" sz="1266" b="1" dirty="0">
                <a:solidFill>
                  <a:srgbClr val="000000"/>
                </a:solidFill>
                <a:latin typeface="Segoe UI" pitchFamily="34"/>
              </a:rPr>
              <a:t>Analytics &amp; Personalization</a:t>
            </a:r>
            <a:endParaRPr lang="en-US" sz="1266" dirty="0"/>
          </a:p>
        </p:txBody>
      </p:sp>
      <p:sp>
        <p:nvSpPr>
          <p:cNvPr id="4" name="Shape 2"/>
          <p:cNvSpPr/>
          <p:nvPr/>
        </p:nvSpPr>
        <p:spPr>
          <a:xfrm>
            <a:off x="565767" y="897397"/>
            <a:ext cx="3200690" cy="621134"/>
          </a:xfrm>
          <a:prstGeom prst="roundRect">
            <a:avLst>
              <a:gd name="adj" fmla="val 7361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5" name="Shape 3"/>
          <p:cNvSpPr/>
          <p:nvPr/>
        </p:nvSpPr>
        <p:spPr>
          <a:xfrm>
            <a:off x="556242" y="897397"/>
            <a:ext cx="38100" cy="621134"/>
          </a:xfrm>
          <a:prstGeom prst="roundRect">
            <a:avLst>
              <a:gd name="adj" fmla="val 97788"/>
            </a:avLst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6" name="Text 4"/>
          <p:cNvSpPr/>
          <p:nvPr/>
        </p:nvSpPr>
        <p:spPr>
          <a:xfrm>
            <a:off x="692569" y="995623"/>
            <a:ext cx="1197470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>
              <a:lnSpc>
                <a:spcPts val="1063"/>
              </a:lnSpc>
            </a:pPr>
            <a:r>
              <a:rPr lang="en-US" sz="1266" b="1" dirty="0">
                <a:solidFill>
                  <a:srgbClr val="272525"/>
                </a:solidFill>
                <a:latin typeface="Segoe UI" pitchFamily="34"/>
              </a:rPr>
              <a:t>Learning Analytics</a:t>
            </a:r>
            <a:endParaRPr lang="en-US" sz="1266" dirty="0"/>
          </a:p>
        </p:txBody>
      </p:sp>
      <p:sp>
        <p:nvSpPr>
          <p:cNvPr id="7" name="Text 5"/>
          <p:cNvSpPr/>
          <p:nvPr/>
        </p:nvSpPr>
        <p:spPr>
          <a:xfrm>
            <a:off x="692569" y="1189621"/>
            <a:ext cx="2945297" cy="23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>
              <a:lnSpc>
                <a:spcPts val="906"/>
              </a:lnSpc>
            </a:pPr>
            <a:r>
              <a:rPr lang="en-US" sz="1032" dirty="0">
                <a:solidFill>
                  <a:srgbClr val="272525"/>
                </a:solidFill>
                <a:latin typeface="Segoe UI" pitchFamily="34"/>
              </a:rPr>
              <a:t>Tracks popular courses, completion trends, and engagement patterns across the learner population.</a:t>
            </a:r>
            <a:endParaRPr lang="en-US" sz="1032" dirty="0"/>
          </a:p>
        </p:txBody>
      </p:sp>
      <p:sp>
        <p:nvSpPr>
          <p:cNvPr id="8" name="Shape 6"/>
          <p:cNvSpPr/>
          <p:nvPr/>
        </p:nvSpPr>
        <p:spPr>
          <a:xfrm>
            <a:off x="565767" y="1573969"/>
            <a:ext cx="3200690" cy="621134"/>
          </a:xfrm>
          <a:prstGeom prst="roundRect">
            <a:avLst>
              <a:gd name="adj" fmla="val 7361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9" name="Shape 7"/>
          <p:cNvSpPr/>
          <p:nvPr/>
        </p:nvSpPr>
        <p:spPr>
          <a:xfrm>
            <a:off x="556242" y="1573969"/>
            <a:ext cx="38100" cy="621134"/>
          </a:xfrm>
          <a:prstGeom prst="roundRect">
            <a:avLst>
              <a:gd name="adj" fmla="val 97788"/>
            </a:avLst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0" name="Text 8"/>
          <p:cNvSpPr/>
          <p:nvPr/>
        </p:nvSpPr>
        <p:spPr>
          <a:xfrm>
            <a:off x="692569" y="1672196"/>
            <a:ext cx="1879547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>
              <a:lnSpc>
                <a:spcPts val="1063"/>
              </a:lnSpc>
            </a:pPr>
            <a:r>
              <a:rPr lang="en-US" sz="1266" b="1" dirty="0">
                <a:solidFill>
                  <a:srgbClr val="272525"/>
                </a:solidFill>
                <a:latin typeface="Segoe UI" pitchFamily="34"/>
              </a:rPr>
              <a:t>Personalized Recommendations</a:t>
            </a:r>
            <a:endParaRPr lang="en-US" sz="1266" dirty="0"/>
          </a:p>
        </p:txBody>
      </p:sp>
      <p:sp>
        <p:nvSpPr>
          <p:cNvPr id="11" name="Text 9"/>
          <p:cNvSpPr/>
          <p:nvPr/>
        </p:nvSpPr>
        <p:spPr>
          <a:xfrm>
            <a:off x="692569" y="1866193"/>
            <a:ext cx="2945297" cy="23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>
              <a:lnSpc>
                <a:spcPts val="906"/>
              </a:lnSpc>
            </a:pPr>
            <a:r>
              <a:rPr lang="en-US" sz="1032" dirty="0">
                <a:solidFill>
                  <a:srgbClr val="272525"/>
                </a:solidFill>
                <a:latin typeface="Segoe UI" pitchFamily="34"/>
              </a:rPr>
              <a:t>Tailors suggestions based on individual learner preferences, history, and stated goals.</a:t>
            </a:r>
            <a:endParaRPr lang="en-US" sz="1032" dirty="0"/>
          </a:p>
        </p:txBody>
      </p:sp>
      <p:sp>
        <p:nvSpPr>
          <p:cNvPr id="12" name="Shape 10"/>
          <p:cNvSpPr/>
          <p:nvPr/>
        </p:nvSpPr>
        <p:spPr>
          <a:xfrm>
            <a:off x="565767" y="2250543"/>
            <a:ext cx="3181640" cy="621134"/>
          </a:xfrm>
          <a:prstGeom prst="roundRect">
            <a:avLst>
              <a:gd name="adj" fmla="val 7361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3" name="Shape 11"/>
          <p:cNvSpPr/>
          <p:nvPr/>
        </p:nvSpPr>
        <p:spPr>
          <a:xfrm>
            <a:off x="556242" y="2250543"/>
            <a:ext cx="38100" cy="621134"/>
          </a:xfrm>
          <a:prstGeom prst="roundRect">
            <a:avLst>
              <a:gd name="adj" fmla="val 97788"/>
            </a:avLst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4" name="Text 12"/>
          <p:cNvSpPr/>
          <p:nvPr/>
        </p:nvSpPr>
        <p:spPr>
          <a:xfrm>
            <a:off x="692569" y="2348768"/>
            <a:ext cx="1197470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>
              <a:lnSpc>
                <a:spcPts val="1063"/>
              </a:lnSpc>
            </a:pPr>
            <a:r>
              <a:rPr lang="en-US" sz="1266" b="1" dirty="0">
                <a:solidFill>
                  <a:srgbClr val="272525"/>
                </a:solidFill>
                <a:latin typeface="Segoe UI" pitchFamily="34"/>
              </a:rPr>
              <a:t>Adaptive Difficulty</a:t>
            </a:r>
            <a:endParaRPr lang="en-US" sz="1266" dirty="0"/>
          </a:p>
        </p:txBody>
      </p:sp>
      <p:sp>
        <p:nvSpPr>
          <p:cNvPr id="15" name="Text 13"/>
          <p:cNvSpPr/>
          <p:nvPr/>
        </p:nvSpPr>
        <p:spPr>
          <a:xfrm>
            <a:off x="692569" y="2542766"/>
            <a:ext cx="2945297" cy="230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>
              <a:lnSpc>
                <a:spcPts val="906"/>
              </a:lnSpc>
            </a:pPr>
            <a:r>
              <a:rPr lang="en-US" sz="1032" dirty="0">
                <a:solidFill>
                  <a:srgbClr val="272525"/>
                </a:solidFill>
                <a:latin typeface="Segoe UI" pitchFamily="34"/>
              </a:rPr>
              <a:t>Dynamically adjusts recommended difficulty levels based on learner progress and performance signals.</a:t>
            </a:r>
            <a:endParaRPr lang="en-US" sz="1032" dirty="0"/>
          </a:p>
        </p:txBody>
      </p:sp>
      <p:sp>
        <p:nvSpPr>
          <p:cNvPr id="16" name="Text 14"/>
          <p:cNvSpPr/>
          <p:nvPr/>
        </p:nvSpPr>
        <p:spPr>
          <a:xfrm>
            <a:off x="4684886" y="714747"/>
            <a:ext cx="1307172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>
              <a:lnSpc>
                <a:spcPts val="1063"/>
              </a:lnSpc>
            </a:pPr>
            <a:r>
              <a:rPr lang="en-US" sz="1266" b="1" dirty="0">
                <a:solidFill>
                  <a:srgbClr val="000000"/>
                </a:solidFill>
                <a:latin typeface="Segoe UI" pitchFamily="34"/>
              </a:rPr>
              <a:t>Agent Communication</a:t>
            </a:r>
            <a:endParaRPr lang="en-US" sz="1266" dirty="0"/>
          </a:p>
        </p:txBody>
      </p:sp>
      <p:sp>
        <p:nvSpPr>
          <p:cNvPr id="17" name="Shape 15"/>
          <p:cNvSpPr/>
          <p:nvPr/>
        </p:nvSpPr>
        <p:spPr>
          <a:xfrm>
            <a:off x="4684886" y="915739"/>
            <a:ext cx="1448321" cy="851818"/>
          </a:xfrm>
          <a:prstGeom prst="roundRect">
            <a:avLst>
              <a:gd name="adj" fmla="val 5367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8" name="Shape 16"/>
          <p:cNvSpPr/>
          <p:nvPr/>
        </p:nvSpPr>
        <p:spPr>
          <a:xfrm>
            <a:off x="4667034" y="915739"/>
            <a:ext cx="38100" cy="851818"/>
          </a:xfrm>
          <a:prstGeom prst="roundRect">
            <a:avLst>
              <a:gd name="adj" fmla="val 97788"/>
            </a:avLst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9" name="Text 17"/>
          <p:cNvSpPr/>
          <p:nvPr/>
        </p:nvSpPr>
        <p:spPr>
          <a:xfrm>
            <a:off x="4811688" y="1013966"/>
            <a:ext cx="1197470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>
              <a:lnSpc>
                <a:spcPts val="1063"/>
              </a:lnSpc>
            </a:pPr>
            <a:r>
              <a:rPr lang="en-US" sz="1266" b="1" dirty="0">
                <a:solidFill>
                  <a:srgbClr val="272525"/>
                </a:solidFill>
                <a:latin typeface="Segoe UI" pitchFamily="34"/>
              </a:rPr>
              <a:t>Agent Handoff</a:t>
            </a:r>
            <a:endParaRPr lang="en-US" sz="1266" dirty="0"/>
          </a:p>
        </p:txBody>
      </p:sp>
      <p:sp>
        <p:nvSpPr>
          <p:cNvPr id="20" name="Text 18"/>
          <p:cNvSpPr/>
          <p:nvPr/>
        </p:nvSpPr>
        <p:spPr>
          <a:xfrm>
            <a:off x="4811687" y="1207964"/>
            <a:ext cx="1321156" cy="46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>
              <a:lnSpc>
                <a:spcPts val="906"/>
              </a:lnSpc>
            </a:pPr>
            <a:r>
              <a:rPr lang="en-US" sz="1032" dirty="0">
                <a:solidFill>
                  <a:srgbClr val="272525"/>
                </a:solidFill>
                <a:latin typeface="Segoe UI" pitchFamily="34"/>
              </a:rPr>
              <a:t>Seamless transfer of context between specialized agents as queries move across domains.</a:t>
            </a:r>
            <a:endParaRPr lang="en-US" sz="1032" dirty="0"/>
          </a:p>
        </p:txBody>
      </p:sp>
      <p:sp>
        <p:nvSpPr>
          <p:cNvPr id="21" name="Shape 19"/>
          <p:cNvSpPr/>
          <p:nvPr/>
        </p:nvSpPr>
        <p:spPr>
          <a:xfrm>
            <a:off x="6188646" y="915739"/>
            <a:ext cx="1448396" cy="851818"/>
          </a:xfrm>
          <a:prstGeom prst="roundRect">
            <a:avLst>
              <a:gd name="adj" fmla="val 5367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22" name="Shape 20"/>
          <p:cNvSpPr/>
          <p:nvPr/>
        </p:nvSpPr>
        <p:spPr>
          <a:xfrm>
            <a:off x="6179121" y="915739"/>
            <a:ext cx="38100" cy="851818"/>
          </a:xfrm>
          <a:prstGeom prst="roundRect">
            <a:avLst>
              <a:gd name="adj" fmla="val 97788"/>
            </a:avLst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23" name="Text 21"/>
          <p:cNvSpPr/>
          <p:nvPr/>
        </p:nvSpPr>
        <p:spPr>
          <a:xfrm>
            <a:off x="6315447" y="1013966"/>
            <a:ext cx="1209365" cy="1385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>
              <a:lnSpc>
                <a:spcPts val="1063"/>
              </a:lnSpc>
            </a:pPr>
            <a:r>
              <a:rPr lang="en-US" sz="1266" b="1" dirty="0">
                <a:solidFill>
                  <a:srgbClr val="272525"/>
                </a:solidFill>
                <a:latin typeface="Segoe UI" pitchFamily="34"/>
              </a:rPr>
              <a:t>A2A Communication</a:t>
            </a:r>
            <a:endParaRPr lang="en-US" sz="1266" dirty="0"/>
          </a:p>
        </p:txBody>
      </p:sp>
      <p:sp>
        <p:nvSpPr>
          <p:cNvPr id="24" name="Text 22"/>
          <p:cNvSpPr/>
          <p:nvPr/>
        </p:nvSpPr>
        <p:spPr>
          <a:xfrm>
            <a:off x="6315447" y="1207964"/>
            <a:ext cx="1321237" cy="461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>
              <a:lnSpc>
                <a:spcPts val="906"/>
              </a:lnSpc>
            </a:pPr>
            <a:r>
              <a:rPr lang="en-US" sz="1032" dirty="0">
                <a:solidFill>
                  <a:srgbClr val="272525"/>
                </a:solidFill>
                <a:latin typeface="Segoe UI" pitchFamily="34"/>
              </a:rPr>
              <a:t>Agent-to-Agent (A2A) communication enables collaborative filtering and cross-domain reasoning.</a:t>
            </a:r>
            <a:endParaRPr lang="en-US" sz="1032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886" y="1829991"/>
            <a:ext cx="2952155" cy="295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7980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875" y="526554"/>
            <a:ext cx="3014572" cy="3174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>
              <a:lnSpc>
                <a:spcPts val="2469"/>
              </a:lnSpc>
            </a:pPr>
            <a:r>
              <a:rPr lang="en-US" sz="2954" b="1" dirty="0">
                <a:solidFill>
                  <a:srgbClr val="000000"/>
                </a:solidFill>
                <a:latin typeface="Segoe UI" pitchFamily="34"/>
              </a:rPr>
              <a:t>Dataset &amp; Deliverables</a:t>
            </a:r>
            <a:endParaRPr lang="en-US" sz="2954" dirty="0"/>
          </a:p>
        </p:txBody>
      </p:sp>
      <p:sp>
        <p:nvSpPr>
          <p:cNvPr id="3" name="Shape 1"/>
          <p:cNvSpPr/>
          <p:nvPr/>
        </p:nvSpPr>
        <p:spPr>
          <a:xfrm>
            <a:off x="1066874" y="1035025"/>
            <a:ext cx="603573" cy="172418"/>
          </a:xfrm>
          <a:prstGeom prst="roundRect">
            <a:avLst>
              <a:gd name="adj" fmla="val 19799"/>
            </a:avLst>
          </a:prstGeom>
          <a:solidFill>
            <a:srgbClr val="DADBF1"/>
          </a:solidFill>
          <a:ln/>
        </p:spPr>
        <p:txBody>
          <a:bodyPr>
            <a:normAutofit fontScale="25000" lnSpcReduction="20000"/>
          </a:bodyPr>
          <a:lstStyle/>
          <a:p>
            <a:endParaRPr lang="en-US" sz="1688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7819" y="1080567"/>
            <a:ext cx="81260" cy="812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49710" y="1065461"/>
            <a:ext cx="388575" cy="1115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>
              <a:lnSpc>
                <a:spcPts val="875"/>
              </a:lnSpc>
            </a:pPr>
            <a:r>
              <a:rPr lang="en-US" sz="938" dirty="0">
                <a:solidFill>
                  <a:srgbClr val="272525"/>
                </a:solidFill>
                <a:latin typeface="Segoe UI" pitchFamily="34"/>
              </a:rPr>
              <a:t>DATASET</a:t>
            </a:r>
            <a:endParaRPr lang="en-US" sz="938" dirty="0"/>
          </a:p>
        </p:txBody>
      </p:sp>
      <p:sp>
        <p:nvSpPr>
          <p:cNvPr id="6" name="Text 3"/>
          <p:cNvSpPr/>
          <p:nvPr/>
        </p:nvSpPr>
        <p:spPr>
          <a:xfrm>
            <a:off x="1066874" y="1236539"/>
            <a:ext cx="1686586" cy="158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>
              <a:lnSpc>
                <a:spcPts val="1219"/>
              </a:lnSpc>
            </a:pPr>
            <a:r>
              <a:rPr lang="en-US" sz="1454" b="1" dirty="0">
                <a:solidFill>
                  <a:srgbClr val="000000"/>
                </a:solidFill>
                <a:latin typeface="Segoe UI" pitchFamily="34"/>
              </a:rPr>
              <a:t>Coursera Course Dataset</a:t>
            </a:r>
            <a:endParaRPr lang="en-US" sz="1454" dirty="0"/>
          </a:p>
        </p:txBody>
      </p:sp>
      <p:sp>
        <p:nvSpPr>
          <p:cNvPr id="7" name="Shape 4"/>
          <p:cNvSpPr/>
          <p:nvPr/>
        </p:nvSpPr>
        <p:spPr>
          <a:xfrm>
            <a:off x="1066875" y="1477120"/>
            <a:ext cx="1654224" cy="723081"/>
          </a:xfrm>
          <a:prstGeom prst="roundRect">
            <a:avLst>
              <a:gd name="adj" fmla="val 590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8" name="Text 5"/>
          <p:cNvSpPr/>
          <p:nvPr/>
        </p:nvSpPr>
        <p:spPr>
          <a:xfrm>
            <a:off x="1173212" y="1583457"/>
            <a:ext cx="1371547" cy="158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>
              <a:lnSpc>
                <a:spcPts val="1219"/>
              </a:lnSpc>
            </a:pPr>
            <a:r>
              <a:rPr lang="en-US" sz="1454" b="1" dirty="0">
                <a:solidFill>
                  <a:srgbClr val="272525"/>
                </a:solidFill>
                <a:latin typeface="Segoe UI" pitchFamily="34"/>
              </a:rPr>
              <a:t>Source</a:t>
            </a:r>
            <a:endParaRPr lang="en-US" sz="1454" dirty="0"/>
          </a:p>
        </p:txBody>
      </p:sp>
      <p:sp>
        <p:nvSpPr>
          <p:cNvPr id="9" name="Text 6"/>
          <p:cNvSpPr/>
          <p:nvPr/>
        </p:nvSpPr>
        <p:spPr>
          <a:xfrm>
            <a:off x="1173212" y="1814959"/>
            <a:ext cx="1556872" cy="278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>
              <a:lnSpc>
                <a:spcPts val="1094"/>
              </a:lnSpc>
            </a:pPr>
            <a:r>
              <a:rPr lang="en-US" sz="1172" dirty="0">
                <a:solidFill>
                  <a:srgbClr val="272525"/>
                </a:solidFill>
                <a:latin typeface="Segoe UI" pitchFamily="34"/>
              </a:rPr>
              <a:t>Kaggle / HuggingFace / GitHub</a:t>
            </a:r>
            <a:endParaRPr lang="en-US" sz="1172" dirty="0"/>
          </a:p>
        </p:txBody>
      </p:sp>
      <p:sp>
        <p:nvSpPr>
          <p:cNvPr id="10" name="Shape 7"/>
          <p:cNvSpPr/>
          <p:nvPr/>
        </p:nvSpPr>
        <p:spPr>
          <a:xfrm>
            <a:off x="2793877" y="1477120"/>
            <a:ext cx="1654224" cy="723081"/>
          </a:xfrm>
          <a:prstGeom prst="roundRect">
            <a:avLst>
              <a:gd name="adj" fmla="val 590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1" name="Text 8"/>
          <p:cNvSpPr/>
          <p:nvPr/>
        </p:nvSpPr>
        <p:spPr>
          <a:xfrm>
            <a:off x="2900214" y="1583457"/>
            <a:ext cx="1371547" cy="158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>
              <a:lnSpc>
                <a:spcPts val="1219"/>
              </a:lnSpc>
            </a:pPr>
            <a:r>
              <a:rPr lang="en-US" sz="1454" b="1" dirty="0">
                <a:solidFill>
                  <a:srgbClr val="272525"/>
                </a:solidFill>
                <a:latin typeface="Segoe UI" pitchFamily="34"/>
              </a:rPr>
              <a:t>Format</a:t>
            </a:r>
            <a:endParaRPr lang="en-US" sz="1454" dirty="0"/>
          </a:p>
        </p:txBody>
      </p:sp>
      <p:sp>
        <p:nvSpPr>
          <p:cNvPr id="12" name="Text 9"/>
          <p:cNvSpPr/>
          <p:nvPr/>
        </p:nvSpPr>
        <p:spPr>
          <a:xfrm>
            <a:off x="2900214" y="1814959"/>
            <a:ext cx="1556872" cy="139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>
              <a:lnSpc>
                <a:spcPts val="1094"/>
              </a:lnSpc>
            </a:pPr>
            <a:r>
              <a:rPr lang="en-US" sz="1172" dirty="0">
                <a:solidFill>
                  <a:srgbClr val="272525"/>
                </a:solidFill>
                <a:latin typeface="Segoe UI" pitchFamily="34"/>
              </a:rPr>
              <a:t>CSV, JSON</a:t>
            </a:r>
            <a:endParaRPr lang="en-US" sz="1172" dirty="0"/>
          </a:p>
        </p:txBody>
      </p:sp>
      <p:sp>
        <p:nvSpPr>
          <p:cNvPr id="13" name="Text 10"/>
          <p:cNvSpPr/>
          <p:nvPr/>
        </p:nvSpPr>
        <p:spPr>
          <a:xfrm>
            <a:off x="1066875" y="2282056"/>
            <a:ext cx="3651724" cy="278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>
              <a:lnSpc>
                <a:spcPts val="1094"/>
              </a:lnSpc>
            </a:pPr>
            <a:r>
              <a:rPr lang="en-US" sz="1172" b="1" dirty="0">
                <a:solidFill>
                  <a:srgbClr val="272525"/>
                </a:solidFill>
                <a:latin typeface="Segoe UI" pitchFamily="34"/>
              </a:rPr>
              <a:t>Key Fields:</a:t>
            </a:r>
            <a:r>
              <a:rPr lang="en-US" sz="1172" dirty="0">
                <a:solidFill>
                  <a:srgbClr val="272525"/>
                </a:solidFill>
                <a:latin typeface="Segoe UI" pitchFamily="34"/>
              </a:rPr>
              <a:t> course_name, description, skills, difficulty_level, rating, organization</a:t>
            </a:r>
            <a:endParaRPr lang="en-US" sz="1172" dirty="0"/>
          </a:p>
        </p:txBody>
      </p:sp>
      <p:sp>
        <p:nvSpPr>
          <p:cNvPr id="14" name="Shape 11"/>
          <p:cNvSpPr/>
          <p:nvPr/>
        </p:nvSpPr>
        <p:spPr>
          <a:xfrm>
            <a:off x="1066875" y="2642816"/>
            <a:ext cx="3381226" cy="493291"/>
          </a:xfrm>
          <a:prstGeom prst="roundRect">
            <a:avLst>
              <a:gd name="adj" fmla="val 8650"/>
            </a:avLst>
          </a:prstGeom>
          <a:solidFill>
            <a:srgbClr val="C7C9EA"/>
          </a:solidFill>
          <a:ln/>
        </p:spPr>
        <p:txBody>
          <a:bodyPr>
            <a:normAutofit/>
          </a:bodyPr>
          <a:lstStyle/>
          <a:p>
            <a:endParaRPr lang="en-US" sz="1688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450" y="2785616"/>
            <a:ext cx="126951" cy="10157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96975" y="2740967"/>
            <a:ext cx="3185514" cy="278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>
              <a:lnSpc>
                <a:spcPts val="1094"/>
              </a:lnSpc>
            </a:pPr>
            <a:r>
              <a:rPr lang="en-US" sz="1172" dirty="0">
                <a:solidFill>
                  <a:srgbClr val="000000"/>
                </a:solidFill>
                <a:latin typeface="Segoe UI" pitchFamily="34"/>
              </a:rPr>
              <a:t>Supports semantic retrieval, skill mapping, and learning path generation across domains.</a:t>
            </a:r>
            <a:endParaRPr lang="en-US" sz="1172" dirty="0"/>
          </a:p>
        </p:txBody>
      </p:sp>
      <p:sp>
        <p:nvSpPr>
          <p:cNvPr id="17" name="Shape 13"/>
          <p:cNvSpPr/>
          <p:nvPr/>
        </p:nvSpPr>
        <p:spPr>
          <a:xfrm>
            <a:off x="4700662" y="1035025"/>
            <a:ext cx="841400" cy="181943"/>
          </a:xfrm>
          <a:prstGeom prst="roundRect">
            <a:avLst>
              <a:gd name="adj" fmla="val 18763"/>
            </a:avLst>
          </a:prstGeom>
          <a:noFill/>
          <a:ln w="7620">
            <a:solidFill>
              <a:srgbClr val="4950BC"/>
            </a:solidFill>
            <a:prstDash val="solid"/>
          </a:ln>
        </p:spPr>
        <p:txBody>
          <a:bodyPr>
            <a:normAutofit fontScale="32500" lnSpcReduction="20000"/>
          </a:bodyPr>
          <a:lstStyle/>
          <a:p>
            <a:endParaRPr lang="en-US" sz="1688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66369" y="1085329"/>
            <a:ext cx="81260" cy="812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88261" y="1070223"/>
            <a:ext cx="635141" cy="1115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>
              <a:lnSpc>
                <a:spcPts val="875"/>
              </a:lnSpc>
            </a:pPr>
            <a:r>
              <a:rPr lang="en-US" sz="938" dirty="0">
                <a:solidFill>
                  <a:srgbClr val="4950BC"/>
                </a:solidFill>
                <a:latin typeface="Segoe UI" pitchFamily="34"/>
              </a:rPr>
              <a:t>DELIVERABLES</a:t>
            </a:r>
            <a:endParaRPr lang="en-US" sz="938" dirty="0"/>
          </a:p>
        </p:txBody>
      </p:sp>
      <p:sp>
        <p:nvSpPr>
          <p:cNvPr id="20" name="Text 15"/>
          <p:cNvSpPr/>
          <p:nvPr/>
        </p:nvSpPr>
        <p:spPr>
          <a:xfrm>
            <a:off x="4700662" y="1298823"/>
            <a:ext cx="109700" cy="126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>
              <a:lnSpc>
                <a:spcPts val="1094"/>
              </a:lnSpc>
            </a:pPr>
            <a:r>
              <a:rPr lang="en-US" sz="1172" dirty="0">
                <a:solidFill>
                  <a:srgbClr val="272525"/>
                </a:solidFill>
                <a:latin typeface="Segoe UI" pitchFamily="34"/>
              </a:rPr>
              <a:t>01</a:t>
            </a:r>
            <a:endParaRPr lang="en-US" sz="1172" dirty="0"/>
          </a:p>
        </p:txBody>
      </p:sp>
      <p:sp>
        <p:nvSpPr>
          <p:cNvPr id="21" name="Shape 16"/>
          <p:cNvSpPr/>
          <p:nvPr/>
        </p:nvSpPr>
        <p:spPr>
          <a:xfrm>
            <a:off x="4700662" y="1457176"/>
            <a:ext cx="3381226" cy="14288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 fontScale="25000" lnSpcReduction="20000"/>
          </a:bodyPr>
          <a:lstStyle/>
          <a:p>
            <a:endParaRPr lang="en-US" sz="1688"/>
          </a:p>
        </p:txBody>
      </p:sp>
      <p:sp>
        <p:nvSpPr>
          <p:cNvPr id="22" name="Text 17"/>
          <p:cNvSpPr/>
          <p:nvPr/>
        </p:nvSpPr>
        <p:spPr>
          <a:xfrm>
            <a:off x="4700662" y="1536502"/>
            <a:ext cx="1432545" cy="158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>
              <a:lnSpc>
                <a:spcPts val="1219"/>
              </a:lnSpc>
            </a:pPr>
            <a:r>
              <a:rPr lang="en-US" sz="1454" b="1" dirty="0">
                <a:solidFill>
                  <a:srgbClr val="272525"/>
                </a:solidFill>
                <a:latin typeface="Segoe UI" pitchFamily="34"/>
              </a:rPr>
              <a:t>Architecture Diagram</a:t>
            </a:r>
            <a:endParaRPr lang="en-US" sz="1454" dirty="0"/>
          </a:p>
        </p:txBody>
      </p:sp>
      <p:sp>
        <p:nvSpPr>
          <p:cNvPr id="23" name="Text 18"/>
          <p:cNvSpPr/>
          <p:nvPr/>
        </p:nvSpPr>
        <p:spPr>
          <a:xfrm>
            <a:off x="4700662" y="1768004"/>
            <a:ext cx="3651724" cy="139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>
              <a:lnSpc>
                <a:spcPts val="1094"/>
              </a:lnSpc>
            </a:pPr>
            <a:r>
              <a:rPr lang="en-US" sz="1172" dirty="0">
                <a:solidFill>
                  <a:srgbClr val="272525"/>
                </a:solidFill>
                <a:latin typeface="Segoe UI" pitchFamily="34"/>
              </a:rPr>
              <a:t>Data flow from ingestion to recommendation (JPEG/PDF)</a:t>
            </a:r>
            <a:endParaRPr lang="en-US" sz="1172" dirty="0"/>
          </a:p>
        </p:txBody>
      </p:sp>
      <p:sp>
        <p:nvSpPr>
          <p:cNvPr id="24" name="Text 19"/>
          <p:cNvSpPr/>
          <p:nvPr/>
        </p:nvSpPr>
        <p:spPr>
          <a:xfrm>
            <a:off x="4700662" y="2056358"/>
            <a:ext cx="109700" cy="126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>
              <a:lnSpc>
                <a:spcPts val="1094"/>
              </a:lnSpc>
            </a:pPr>
            <a:r>
              <a:rPr lang="en-US" sz="1172" dirty="0">
                <a:solidFill>
                  <a:srgbClr val="272525"/>
                </a:solidFill>
                <a:latin typeface="Segoe UI" pitchFamily="34"/>
              </a:rPr>
              <a:t>02</a:t>
            </a:r>
            <a:endParaRPr lang="en-US" sz="1172" dirty="0"/>
          </a:p>
        </p:txBody>
      </p:sp>
      <p:sp>
        <p:nvSpPr>
          <p:cNvPr id="25" name="Shape 20"/>
          <p:cNvSpPr/>
          <p:nvPr/>
        </p:nvSpPr>
        <p:spPr>
          <a:xfrm>
            <a:off x="4700662" y="2214711"/>
            <a:ext cx="3381226" cy="14288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 fontScale="25000" lnSpcReduction="20000"/>
          </a:bodyPr>
          <a:lstStyle/>
          <a:p>
            <a:endParaRPr lang="en-US" sz="1688"/>
          </a:p>
        </p:txBody>
      </p:sp>
      <p:sp>
        <p:nvSpPr>
          <p:cNvPr id="26" name="Text 21"/>
          <p:cNvSpPr/>
          <p:nvPr/>
        </p:nvSpPr>
        <p:spPr>
          <a:xfrm>
            <a:off x="4700662" y="2294037"/>
            <a:ext cx="1371547" cy="158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>
              <a:lnSpc>
                <a:spcPts val="1219"/>
              </a:lnSpc>
            </a:pPr>
            <a:r>
              <a:rPr lang="en-US" sz="1454" b="1" dirty="0">
                <a:solidFill>
                  <a:srgbClr val="272525"/>
                </a:solidFill>
                <a:latin typeface="Segoe UI" pitchFamily="34"/>
              </a:rPr>
              <a:t>Design Document</a:t>
            </a:r>
            <a:endParaRPr lang="en-US" sz="1454" dirty="0"/>
          </a:p>
        </p:txBody>
      </p:sp>
      <p:sp>
        <p:nvSpPr>
          <p:cNvPr id="27" name="Text 22"/>
          <p:cNvSpPr/>
          <p:nvPr/>
        </p:nvSpPr>
        <p:spPr>
          <a:xfrm>
            <a:off x="4700662" y="2525539"/>
            <a:ext cx="3651724" cy="278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>
              <a:lnSpc>
                <a:spcPts val="1094"/>
              </a:lnSpc>
            </a:pPr>
            <a:r>
              <a:rPr lang="en-US" sz="1172" dirty="0">
                <a:solidFill>
                  <a:srgbClr val="272525"/>
                </a:solidFill>
                <a:latin typeface="Segoe UI" pitchFamily="34"/>
              </a:rPr>
              <a:t>Embedding model, chunking strategy, agent orchestration decisions and trade-offs</a:t>
            </a:r>
            <a:endParaRPr lang="en-US" sz="1172" dirty="0"/>
          </a:p>
        </p:txBody>
      </p:sp>
      <p:sp>
        <p:nvSpPr>
          <p:cNvPr id="28" name="Text 23"/>
          <p:cNvSpPr/>
          <p:nvPr/>
        </p:nvSpPr>
        <p:spPr>
          <a:xfrm>
            <a:off x="4700662" y="2953346"/>
            <a:ext cx="109700" cy="126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>
              <a:lnSpc>
                <a:spcPts val="1094"/>
              </a:lnSpc>
            </a:pPr>
            <a:r>
              <a:rPr lang="en-US" sz="1172" dirty="0">
                <a:solidFill>
                  <a:srgbClr val="272525"/>
                </a:solidFill>
                <a:latin typeface="Segoe UI" pitchFamily="34"/>
              </a:rPr>
              <a:t>03</a:t>
            </a:r>
            <a:endParaRPr lang="en-US" sz="1172" dirty="0"/>
          </a:p>
        </p:txBody>
      </p:sp>
      <p:sp>
        <p:nvSpPr>
          <p:cNvPr id="29" name="Shape 24"/>
          <p:cNvSpPr/>
          <p:nvPr/>
        </p:nvSpPr>
        <p:spPr>
          <a:xfrm>
            <a:off x="4700662" y="3111698"/>
            <a:ext cx="3381226" cy="14288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 fontScale="25000" lnSpcReduction="20000"/>
          </a:bodyPr>
          <a:lstStyle/>
          <a:p>
            <a:endParaRPr lang="en-US" sz="1688"/>
          </a:p>
        </p:txBody>
      </p:sp>
      <p:sp>
        <p:nvSpPr>
          <p:cNvPr id="30" name="Text 25"/>
          <p:cNvSpPr/>
          <p:nvPr/>
        </p:nvSpPr>
        <p:spPr>
          <a:xfrm>
            <a:off x="4700662" y="3191024"/>
            <a:ext cx="1397585" cy="158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>
              <a:lnSpc>
                <a:spcPts val="1219"/>
              </a:lnSpc>
            </a:pPr>
            <a:r>
              <a:rPr lang="en-US" sz="1454" b="1" dirty="0">
                <a:solidFill>
                  <a:srgbClr val="272525"/>
                </a:solidFill>
                <a:latin typeface="Segoe UI" pitchFamily="34"/>
              </a:rPr>
              <a:t>Full Executable Code</a:t>
            </a:r>
            <a:endParaRPr lang="en-US" sz="1454" dirty="0"/>
          </a:p>
        </p:txBody>
      </p:sp>
      <p:sp>
        <p:nvSpPr>
          <p:cNvPr id="31" name="Text 26"/>
          <p:cNvSpPr/>
          <p:nvPr/>
        </p:nvSpPr>
        <p:spPr>
          <a:xfrm>
            <a:off x="4700662" y="3422526"/>
            <a:ext cx="3651724" cy="278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>
              <a:lnSpc>
                <a:spcPts val="1094"/>
              </a:lnSpc>
            </a:pPr>
            <a:r>
              <a:rPr lang="en-US" sz="1172" dirty="0">
                <a:solidFill>
                  <a:srgbClr val="272525"/>
                </a:solidFill>
                <a:latin typeface="Segoe UI" pitchFamily="34"/>
              </a:rPr>
              <a:t>Modular microservice with README covering setup, ingestion, and example queries</a:t>
            </a:r>
            <a:endParaRPr lang="en-US" sz="1172" dirty="0"/>
          </a:p>
        </p:txBody>
      </p:sp>
      <p:sp>
        <p:nvSpPr>
          <p:cNvPr id="32" name="Text 27"/>
          <p:cNvSpPr/>
          <p:nvPr/>
        </p:nvSpPr>
        <p:spPr>
          <a:xfrm>
            <a:off x="4700662" y="3850333"/>
            <a:ext cx="109700" cy="1269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>
              <a:lnSpc>
                <a:spcPts val="1094"/>
              </a:lnSpc>
            </a:pPr>
            <a:r>
              <a:rPr lang="en-US" sz="1172" dirty="0">
                <a:solidFill>
                  <a:srgbClr val="272525"/>
                </a:solidFill>
                <a:latin typeface="Segoe UI" pitchFamily="34"/>
              </a:rPr>
              <a:t>04</a:t>
            </a:r>
            <a:endParaRPr lang="en-US" sz="1172" dirty="0"/>
          </a:p>
        </p:txBody>
      </p:sp>
      <p:sp>
        <p:nvSpPr>
          <p:cNvPr id="33" name="Shape 28"/>
          <p:cNvSpPr/>
          <p:nvPr/>
        </p:nvSpPr>
        <p:spPr>
          <a:xfrm>
            <a:off x="4700662" y="4008685"/>
            <a:ext cx="3381226" cy="14288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 fontScale="25000" lnSpcReduction="20000"/>
          </a:bodyPr>
          <a:lstStyle/>
          <a:p>
            <a:endParaRPr lang="en-US" sz="1688"/>
          </a:p>
        </p:txBody>
      </p:sp>
      <p:sp>
        <p:nvSpPr>
          <p:cNvPr id="34" name="Text 29"/>
          <p:cNvSpPr/>
          <p:nvPr/>
        </p:nvSpPr>
        <p:spPr>
          <a:xfrm>
            <a:off x="4700662" y="4088011"/>
            <a:ext cx="1371547" cy="1587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92500"/>
          </a:bodyPr>
          <a:lstStyle/>
          <a:p>
            <a:pPr>
              <a:lnSpc>
                <a:spcPts val="1219"/>
              </a:lnSpc>
            </a:pPr>
            <a:r>
              <a:rPr lang="en-US" sz="1454" b="1" dirty="0">
                <a:solidFill>
                  <a:srgbClr val="272525"/>
                </a:solidFill>
                <a:latin typeface="Segoe UI" pitchFamily="34"/>
              </a:rPr>
              <a:t>Panel Presentation</a:t>
            </a:r>
            <a:endParaRPr lang="en-US" sz="1454" dirty="0"/>
          </a:p>
        </p:txBody>
      </p:sp>
      <p:sp>
        <p:nvSpPr>
          <p:cNvPr id="35" name="Text 30"/>
          <p:cNvSpPr/>
          <p:nvPr/>
        </p:nvSpPr>
        <p:spPr>
          <a:xfrm>
            <a:off x="4700662" y="4319513"/>
            <a:ext cx="3651724" cy="1394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7500" lnSpcReduction="20000"/>
          </a:bodyPr>
          <a:lstStyle/>
          <a:p>
            <a:pPr>
              <a:lnSpc>
                <a:spcPts val="1094"/>
              </a:lnSpc>
            </a:pPr>
            <a:r>
              <a:rPr lang="en-US" sz="1172" dirty="0">
                <a:solidFill>
                  <a:srgbClr val="272525"/>
                </a:solidFill>
                <a:latin typeface="Segoe UI" pitchFamily="34"/>
              </a:rPr>
              <a:t>10 min total — live demo (8 min) + Q&amp;A (2 min)</a:t>
            </a:r>
            <a:endParaRPr lang="en-US" sz="1172" dirty="0"/>
          </a:p>
        </p:txBody>
      </p:sp>
    </p:spTree>
    <p:extLst>
      <p:ext uri="{BB962C8B-B14F-4D97-AF65-F5344CB8AC3E}">
        <p14:creationId xmlns:p14="http://schemas.microsoft.com/office/powerpoint/2010/main" val="18237980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5440" y="22860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4950BC"/>
                </a:solidFill>
                <a:latin typeface="Segoe UI" pitchFamily="34" charset="0"/>
              </a:rPr>
              <a:t>DATA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5440" y="527858"/>
            <a:ext cx="855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000000"/>
                </a:solidFill>
              </a:rPr>
              <a:t>6,645 Courses — Domain Distribution</a:t>
            </a:r>
            <a:endParaRPr lang="en-US" sz="3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80" y="1097280"/>
            <a:ext cx="8595360" cy="38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4543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4950BC"/>
                </a:solidFill>
                <a:latin typeface="Segoe UI" pitchFamily="34" charset="0"/>
              </a:rPr>
              <a:t>DATA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1320" y="552796"/>
            <a:ext cx="855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000000"/>
                </a:solidFill>
              </a:rPr>
              <a:t>54% Beginner — Consistent Across All Domains</a:t>
            </a:r>
            <a:endParaRPr lang="en-US" sz="3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4114800" cy="27432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097280"/>
            <a:ext cx="4572000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83787" y="4046220"/>
            <a:ext cx="8677333" cy="731520"/>
          </a:xfrm>
          <a:prstGeom prst="rect">
            <a:avLst/>
          </a:prstGeom>
          <a:solidFill>
            <a:srgbClr val="DADBF1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574733" y="4137660"/>
            <a:ext cx="828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4950BC"/>
                </a:solidFill>
              </a:rPr>
              <a:t>Insight: </a:t>
            </a:r>
            <a:r>
              <a:rPr lang="en-US" sz="1950" dirty="0">
                <a:solidFill>
                  <a:srgbClr val="272525"/>
                </a:solidFill>
              </a:rPr>
              <a:t>Beginner-heavy distribution is consistent across domains. </a:t>
            </a:r>
          </a:p>
          <a:p>
            <a:pPr marL="0" indent="0">
              <a:buNone/>
            </a:pPr>
            <a:r>
              <a:rPr lang="en-US" sz="1950" dirty="0">
                <a:solidFill>
                  <a:srgbClr val="272525"/>
                </a:solidFill>
              </a:rPr>
              <a:t>Agents must filter by level to surface Advanced content.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7101160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4950BC"/>
                </a:solidFill>
                <a:latin typeface="Segoe UI" pitchFamily="34" charset="0"/>
              </a:rPr>
              <a:t>APPENDIX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71500"/>
            <a:ext cx="855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000000"/>
                </a:solidFill>
              </a:rPr>
              <a:t>Level Distribution by Domain (Detail)</a:t>
            </a:r>
            <a:endParaRPr lang="en-US" sz="3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7398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4950BC"/>
                </a:solidFill>
                <a:latin typeface="Segoe UI" pitchFamily="34" charset="0"/>
              </a:rPr>
              <a:t>RAG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5205" y="604751"/>
            <a:ext cx="8559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4500" b="1" dirty="0">
                <a:solidFill>
                  <a:srgbClr val="000000"/>
                </a:solidFill>
                <a:latin typeface="Segoe UI" pitchFamily="34" charset="0"/>
              </a:rPr>
              <a:t>Indexing Pipeline — Data Ingestion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788878" y="1366405"/>
            <a:ext cx="1737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ADB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88878" y="1366405"/>
            <a:ext cx="54864" cy="1280160"/>
          </a:xfrm>
          <a:prstGeom prst="rect">
            <a:avLst/>
          </a:prstGeom>
          <a:solidFill>
            <a:srgbClr val="272525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2148" y="1457845"/>
            <a:ext cx="16788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00000"/>
                </a:solidFill>
              </a:rPr>
              <a:t>CSV</a:t>
            </a:r>
            <a:endParaRPr lang="en-US" sz="1950" dirty="0"/>
          </a:p>
          <a:p>
            <a:pPr marL="0" indent="0" algn="ctr">
              <a:buNone/>
            </a:pPr>
            <a:r>
              <a:rPr lang="en-US" sz="1950" b="1" dirty="0">
                <a:solidFill>
                  <a:srgbClr val="000000"/>
                </a:solidFill>
              </a:rPr>
              <a:t>6,645 courses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526238" y="1732165"/>
            <a:ext cx="69128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950BC"/>
                </a:solidFill>
              </a:rPr>
              <a:t>→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709118" y="1366405"/>
            <a:ext cx="1737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ADB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09118" y="1366405"/>
            <a:ext cx="54864" cy="1280160"/>
          </a:xfrm>
          <a:prstGeom prst="rect">
            <a:avLst/>
          </a:prstGeom>
          <a:solidFill>
            <a:srgbClr val="10B981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87756" y="1457845"/>
            <a:ext cx="16788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00000"/>
                </a:solidFill>
              </a:rPr>
              <a:t>MongoDB</a:t>
            </a:r>
            <a:endParaRPr lang="en-US" sz="1950" dirty="0"/>
          </a:p>
          <a:p>
            <a:pPr marL="0" indent="0" algn="ctr">
              <a:buNone/>
            </a:pPr>
            <a:r>
              <a:rPr lang="en-US" sz="1950" b="1" dirty="0">
                <a:solidFill>
                  <a:srgbClr val="000000"/>
                </a:solidFill>
              </a:rPr>
              <a:t>Document store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446478" y="1732165"/>
            <a:ext cx="691286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55000" lnSpcReduction="20000"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950BC"/>
                </a:solidFill>
              </a:rPr>
              <a:t>→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629358" y="1366405"/>
            <a:ext cx="1737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ADB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29358" y="1366405"/>
            <a:ext cx="54864" cy="128016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93692" y="1474470"/>
            <a:ext cx="225191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00000"/>
                </a:solidFill>
              </a:rPr>
              <a:t>OpenAI</a:t>
            </a:r>
            <a:endParaRPr lang="en-US" sz="1950" dirty="0"/>
          </a:p>
          <a:p>
            <a:pPr marL="0" indent="0" algn="ctr">
              <a:buNone/>
            </a:pPr>
            <a:r>
              <a:rPr lang="en-US" sz="1950" b="1" dirty="0">
                <a:solidFill>
                  <a:srgbClr val="000000"/>
                </a:solidFill>
              </a:rPr>
              <a:t>text-embedding</a:t>
            </a:r>
            <a:endParaRPr lang="en-US" sz="1950" dirty="0"/>
          </a:p>
          <a:p>
            <a:pPr marL="0" indent="0" algn="ctr">
              <a:buNone/>
            </a:pPr>
            <a:r>
              <a:rPr lang="en-US" sz="1950" b="1" dirty="0">
                <a:solidFill>
                  <a:srgbClr val="000000"/>
                </a:solidFill>
              </a:rPr>
              <a:t>-3-small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6549598" y="1366405"/>
            <a:ext cx="54864" cy="128016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86758" y="1457845"/>
            <a:ext cx="16788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00000"/>
                </a:solidFill>
              </a:rPr>
              <a:t>Qdrant</a:t>
            </a:r>
            <a:endParaRPr lang="en-US" sz="1950" dirty="0"/>
          </a:p>
          <a:p>
            <a:pPr marL="0" indent="0" algn="ctr">
              <a:buNone/>
            </a:pPr>
            <a:r>
              <a:rPr lang="en-US" sz="1950" b="1" dirty="0">
                <a:solidFill>
                  <a:srgbClr val="000000"/>
                </a:solidFill>
              </a:rPr>
              <a:t>Dense + BM25</a:t>
            </a:r>
            <a:endParaRPr lang="en-US" sz="1950" dirty="0"/>
          </a:p>
          <a:p>
            <a:pPr marL="0" indent="0" algn="ctr">
              <a:buNone/>
            </a:pPr>
            <a:r>
              <a:rPr lang="en-US" sz="1950" b="1" dirty="0">
                <a:solidFill>
                  <a:srgbClr val="000000"/>
                </a:solidFill>
              </a:rPr>
              <a:t>vectors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3840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B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54864" cy="164592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3108960"/>
            <a:ext cx="37526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4950BC"/>
                </a:solidFill>
              </a:rPr>
              <a:t>Dense Vector (Semantic)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40080" y="3474720"/>
            <a:ext cx="375269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Input: </a:t>
            </a:r>
            <a:r>
              <a:rPr lang="en-US" sz="1800" dirty="0">
                <a:solidFill>
                  <a:srgbClr val="272525"/>
                </a:solidFill>
              </a:rPr>
              <a:t>title + description
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Model: </a:t>
            </a:r>
            <a:r>
              <a:rPr lang="en-US" sz="1800" dirty="0">
                <a:solidFill>
                  <a:srgbClr val="272525"/>
                </a:solidFill>
              </a:rPr>
              <a:t>text-embedding-3-small
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Dimensions: </a:t>
            </a:r>
            <a:r>
              <a:rPr lang="en-US" sz="1800" dirty="0">
                <a:solidFill>
                  <a:srgbClr val="272525"/>
                </a:solidFill>
              </a:rPr>
              <a:t>1,536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0" y="301752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ADB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0" y="3017520"/>
            <a:ext cx="54864" cy="164592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310896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4950BC"/>
                </a:solidFill>
              </a:rPr>
              <a:t>BM25 Sparse Vector (Keyword)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4754880" y="3474720"/>
            <a:ext cx="39502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Input: </a:t>
            </a:r>
            <a:r>
              <a:rPr lang="en-US" sz="1800" dirty="0">
                <a:solidFill>
                  <a:srgbClr val="272525"/>
                </a:solidFill>
              </a:rPr>
              <a:t>title + description + skills
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Model: </a:t>
            </a:r>
            <a:r>
              <a:rPr lang="en-US" sz="1800" dirty="0">
                <a:solidFill>
                  <a:srgbClr val="272525"/>
                </a:solidFill>
              </a:rPr>
              <a:t>Qdrant/bm25 (built-in)
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Purpose: </a:t>
            </a:r>
            <a:r>
              <a:rPr lang="en-US" sz="1800" dirty="0">
                <a:solidFill>
                  <a:srgbClr val="272525"/>
                </a:solidFill>
              </a:rPr>
              <a:t>Exact skill/tool name matching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865910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4950BC"/>
                </a:solidFill>
                <a:latin typeface="Segoe UI" pitchFamily="34" charset="0"/>
              </a:rPr>
              <a:t>RAG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4980" y="508322"/>
            <a:ext cx="8559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4500" b="1" dirty="0">
                <a:solidFill>
                  <a:srgbClr val="000000"/>
                </a:solidFill>
                <a:latin typeface="Segoe UI" pitchFamily="34" charset="0"/>
              </a:rPr>
              <a:t>Query Pipeline — Hybrid Search + RRF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57200" y="1419815"/>
            <a:ext cx="1645920" cy="54864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1363" y="1428128"/>
            <a:ext cx="17775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</a:rPr>
              <a:t>User Query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2094807" y="1473848"/>
            <a:ext cx="3950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4950BC"/>
                </a:solidFill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468880" y="1419815"/>
            <a:ext cx="1828800" cy="54864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36625" y="1403186"/>
            <a:ext cx="1975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Embed (1536-dim)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54880" y="107899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B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071675"/>
            <a:ext cx="54864" cy="54864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124710"/>
            <a:ext cx="1876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BM25 Search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353310"/>
            <a:ext cx="18763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72525"/>
                </a:solidFill>
              </a:rPr>
              <a:t>weight: 1.0  |  limit: 20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754880" y="176479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ADB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1735530"/>
            <a:ext cx="54864" cy="54864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1810510"/>
            <a:ext cx="1876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Dense Search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2039110"/>
            <a:ext cx="18763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72525"/>
                </a:solidFill>
              </a:rPr>
              <a:t>weight: 1.5  |  limit: 20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97680" y="1124710"/>
            <a:ext cx="49377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272525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297680" y="1810510"/>
            <a:ext cx="493776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272525"/>
                </a:solidFill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7100065" y="1172426"/>
            <a:ext cx="1645920" cy="1051560"/>
          </a:xfrm>
          <a:prstGeom prst="rect">
            <a:avLst/>
          </a:prstGeom>
          <a:solidFill>
            <a:srgbClr val="10B981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07629" y="1170428"/>
            <a:ext cx="1777593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RRF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Fusion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66560" y="1124710"/>
            <a:ext cx="3950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272525"/>
                </a:solidFill>
              </a:rPr>
              <a:t>→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766560" y="1810510"/>
            <a:ext cx="3950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272525"/>
                </a:solidFill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457200" y="2563975"/>
            <a:ext cx="54864" cy="914400"/>
          </a:xfrm>
          <a:prstGeom prst="rect">
            <a:avLst/>
          </a:prstGeom>
          <a:solidFill>
            <a:srgbClr val="818CF8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7004" y="2629810"/>
            <a:ext cx="828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818CF8"/>
                </a:solidFill>
              </a:rPr>
              <a:t>Payload Filters (applied to both searches)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40080" y="2993409"/>
            <a:ext cx="8285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level </a:t>
            </a:r>
            <a:r>
              <a:rPr lang="en-US" sz="1800" dirty="0">
                <a:solidFill>
                  <a:srgbClr val="272525"/>
                </a:solidFill>
              </a:rPr>
              <a:t>(Beginner/Intermediate/Advanced)    </a:t>
            </a:r>
            <a:r>
              <a:rPr lang="en-US" sz="1800" b="1" dirty="0">
                <a:solidFill>
                  <a:srgbClr val="000000"/>
                </a:solidFill>
              </a:rPr>
              <a:t>min_rating </a:t>
            </a:r>
            <a:r>
              <a:rPr lang="en-US" sz="1800" dirty="0">
                <a:solidFill>
                  <a:srgbClr val="272525"/>
                </a:solidFill>
              </a:rPr>
              <a:t>(≥ value)    </a:t>
            </a:r>
            <a:r>
              <a:rPr lang="en-US" sz="1800" b="1" dirty="0">
                <a:solidFill>
                  <a:srgbClr val="000000"/>
                </a:solidFill>
              </a:rPr>
              <a:t>organization </a:t>
            </a:r>
            <a:r>
              <a:rPr lang="en-US" sz="1800" dirty="0">
                <a:solidFill>
                  <a:srgbClr val="272525"/>
                </a:solidFill>
              </a:rPr>
              <a:t>(text match)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B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54864" cy="109728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3749040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4950BC"/>
                </a:solidFill>
              </a:rPr>
              <a:t>Why Qdrant?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67004" y="4031673"/>
            <a:ext cx="8285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55000" lnSpcReduction="2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Native Hybrid Search: </a:t>
            </a:r>
            <a:r>
              <a:rPr lang="en-US" sz="1800" dirty="0">
                <a:solidFill>
                  <a:srgbClr val="272525"/>
                </a:solidFill>
              </a:rPr>
              <a:t>BM25 + Dense + RRF in single API call
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Payload Filters: </a:t>
            </a:r>
            <a:r>
              <a:rPr lang="en-US" sz="1800" dirty="0">
                <a:solidFill>
                  <a:srgbClr val="272525"/>
                </a:solidFill>
              </a:rPr>
              <a:t>Structured metadata filtering on vector results
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Docker Native: </a:t>
            </a:r>
            <a:r>
              <a:rPr lang="en-US" sz="1800" dirty="0">
                <a:solidFill>
                  <a:srgbClr val="272525"/>
                </a:solidFill>
              </a:rPr>
              <a:t>Lightweight, fits Docker Compose stack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1303695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4950BC"/>
                </a:solidFill>
                <a:latin typeface="Segoe UI" pitchFamily="34" charset="0"/>
              </a:rPr>
              <a:t>WEB SEARCH TOOL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17220"/>
            <a:ext cx="8559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4500" b="1" dirty="0">
                <a:solidFill>
                  <a:srgbClr val="000000"/>
                </a:solidFill>
                <a:latin typeface="Segoe UI" pitchFamily="34" charset="0"/>
              </a:rPr>
              <a:t>Real-Time Market Data via Web Search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0116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B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" cy="1097280"/>
          </a:xfrm>
          <a:prstGeom prst="rect">
            <a:avLst/>
          </a:prstGeom>
          <a:solidFill>
            <a:srgbClr val="818CF8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Specialist Agent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(Skill Gap / Career)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1691640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7500" lnSpcReduction="2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4950BC"/>
                </a:solidFill>
              </a:rPr>
              <a:t>→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2926080" y="1371600"/>
            <a:ext cx="13716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B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26080" y="1371600"/>
            <a:ext cx="54864" cy="109728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17520" y="1463040"/>
            <a:ext cx="128381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web_search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tool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97680" y="1691640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7500" lnSpcReduction="2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4950BC"/>
                </a:solidFill>
              </a:rPr>
              <a:t>→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20116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B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54864" cy="109728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197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OpenAI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Responses API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+ web_search_preview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66560" y="1691640"/>
            <a:ext cx="493776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47500" lnSpcReduction="20000"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4950BC"/>
                </a:solidFill>
              </a:rPr>
              <a:t>→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7223760" y="1371600"/>
            <a:ext cx="1554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ADBF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23760" y="137160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0" y="1463040"/>
            <a:ext cx="14813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Summarized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</a:rPr>
              <a:t>Market Data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54864" cy="1828800"/>
          </a:xfrm>
          <a:prstGeom prst="rect">
            <a:avLst/>
          </a:prstGeom>
          <a:solidFill>
            <a:srgbClr val="4950BC"/>
          </a:solidFill>
          <a:ln/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8716" y="2874126"/>
            <a:ext cx="8285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4950BC"/>
                </a:solidFill>
              </a:rPr>
              <a:t>Why Web Search Matters for Agents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59536" y="3328167"/>
            <a:ext cx="39502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4950BC"/>
                </a:solidFill>
              </a:rPr>
              <a:t>Skill Gap Analyst
</a:t>
            </a:r>
            <a:r>
              <a:rPr lang="en-US" sz="1650" dirty="0">
                <a:solidFill>
                  <a:srgbClr val="272525"/>
                </a:solidFill>
              </a:rPr>
              <a:t>Searches for current required skills
for target roles (e.g., "ML Engineer
required skills 2025")
</a:t>
            </a:r>
            <a:r>
              <a:rPr lang="en-US" sz="1650" b="1" dirty="0">
                <a:solidFill>
                  <a:srgbClr val="000000"/>
                </a:solidFill>
              </a:rPr>
              <a:t>Model: </a:t>
            </a:r>
            <a:r>
              <a:rPr lang="en-US" sz="1650" dirty="0">
                <a:solidFill>
                  <a:srgbClr val="272525"/>
                </a:solidFill>
              </a:rPr>
              <a:t>gpt-4o-mini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4531767" y="3314866"/>
            <a:ext cx="424647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818CF8"/>
                </a:solidFill>
              </a:rPr>
              <a:t>Career Advisor
</a:t>
            </a:r>
            <a:r>
              <a:rPr lang="en-US" sz="1650" dirty="0">
                <a:solidFill>
                  <a:srgbClr val="272525"/>
                </a:solidFill>
              </a:rPr>
              <a:t>Searches for salary data, job market
trends, career path information
for informed recommendations
</a:t>
            </a:r>
            <a:r>
              <a:rPr lang="en-US" sz="1650" b="1" dirty="0">
                <a:solidFill>
                  <a:srgbClr val="000000"/>
                </a:solidFill>
              </a:rPr>
              <a:t>Retry: </a:t>
            </a:r>
            <a:r>
              <a:rPr lang="en-US" sz="1650" dirty="0">
                <a:solidFill>
                  <a:srgbClr val="272525"/>
                </a:solidFill>
              </a:rPr>
              <a:t>max 2 attempts, exponential backoff</a:t>
            </a:r>
            <a:endParaRPr lang="en-US" sz="1950" dirty="0"/>
          </a:p>
        </p:txBody>
      </p:sp>
    </p:spTree>
    <p:extLst>
      <p:ext uri="{BB962C8B-B14F-4D97-AF65-F5344CB8AC3E}">
        <p14:creationId xmlns:p14="http://schemas.microsoft.com/office/powerpoint/2010/main" val="23583057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1120" y="576709"/>
            <a:ext cx="2434563" cy="281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2219"/>
              </a:lnSpc>
            </a:pPr>
            <a:r>
              <a:rPr lang="en-US" sz="2625" b="1" dirty="0">
                <a:solidFill>
                  <a:srgbClr val="000000"/>
                </a:solidFill>
                <a:latin typeface="Segoe UI" pitchFamily="34"/>
              </a:rPr>
              <a:t>Demo Flow</a:t>
            </a:r>
            <a:endParaRPr lang="en-US" sz="2625" dirty="0"/>
          </a:p>
        </p:txBody>
      </p:sp>
      <p:sp>
        <p:nvSpPr>
          <p:cNvPr id="3" name="Text 1"/>
          <p:cNvSpPr/>
          <p:nvPr/>
        </p:nvSpPr>
        <p:spPr>
          <a:xfrm>
            <a:off x="1461120" y="973113"/>
            <a:ext cx="6719420" cy="236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906"/>
              </a:lnSpc>
            </a:pPr>
            <a:r>
              <a:rPr lang="en-US" sz="1032" dirty="0">
                <a:solidFill>
                  <a:srgbClr val="272525"/>
                </a:solidFill>
                <a:latin typeface="Segoe UI" pitchFamily="34"/>
              </a:rPr>
              <a:t>A five-step end-to-end demonstration showcasing the full intelligence of the system — from a student's first query to a career-aligned course recommendation.</a:t>
            </a:r>
            <a:endParaRPr lang="en-US" sz="1032" dirty="0"/>
          </a:p>
        </p:txBody>
      </p:sp>
      <p:sp>
        <p:nvSpPr>
          <p:cNvPr id="4" name="Shape 2"/>
          <p:cNvSpPr/>
          <p:nvPr/>
        </p:nvSpPr>
        <p:spPr>
          <a:xfrm>
            <a:off x="1551310" y="1408881"/>
            <a:ext cx="90116" cy="405706"/>
          </a:xfrm>
          <a:prstGeom prst="roundRect">
            <a:avLst>
              <a:gd name="adj" fmla="val 420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5" name="Shape 3"/>
          <p:cNvSpPr/>
          <p:nvPr/>
        </p:nvSpPr>
        <p:spPr>
          <a:xfrm>
            <a:off x="1461120" y="1349723"/>
            <a:ext cx="270495" cy="270495"/>
          </a:xfrm>
          <a:prstGeom prst="roundRect">
            <a:avLst>
              <a:gd name="adj" fmla="val 10564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>
            <a:normAutofit fontScale="40000" lnSpcReduction="20000"/>
          </a:bodyPr>
          <a:lstStyle/>
          <a:p>
            <a:endParaRPr lang="en-US" sz="1688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8763" y="1417365"/>
            <a:ext cx="135211" cy="1352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8914" y="1363786"/>
            <a:ext cx="1288768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1094"/>
              </a:lnSpc>
            </a:pPr>
            <a:r>
              <a:rPr lang="en-US" sz="1313" b="1" dirty="0">
                <a:solidFill>
                  <a:srgbClr val="272525"/>
                </a:solidFill>
                <a:latin typeface="Segoe UI" pitchFamily="34"/>
              </a:rPr>
              <a:t>Step 1: Student Query</a:t>
            </a:r>
            <a:endParaRPr lang="en-US" sz="1313" dirty="0"/>
          </a:p>
        </p:txBody>
      </p:sp>
      <p:sp>
        <p:nvSpPr>
          <p:cNvPr id="8" name="Text 5"/>
          <p:cNvSpPr/>
          <p:nvPr/>
        </p:nvSpPr>
        <p:spPr>
          <a:xfrm>
            <a:off x="1788914" y="1539032"/>
            <a:ext cx="636540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906"/>
              </a:lnSpc>
            </a:pPr>
            <a:r>
              <a:rPr lang="en-US" sz="1032" dirty="0">
                <a:solidFill>
                  <a:srgbClr val="272525"/>
                </a:solidFill>
                <a:latin typeface="Segoe UI" pitchFamily="34"/>
              </a:rPr>
              <a:t>Student enters a natural language learning goal (e.g., "I want to learn machine learning for finance").</a:t>
            </a:r>
            <a:endParaRPr lang="en-US" sz="1032" dirty="0"/>
          </a:p>
        </p:txBody>
      </p:sp>
      <p:sp>
        <p:nvSpPr>
          <p:cNvPr id="9" name="Shape 6"/>
          <p:cNvSpPr/>
          <p:nvPr/>
        </p:nvSpPr>
        <p:spPr>
          <a:xfrm>
            <a:off x="1686521" y="2007171"/>
            <a:ext cx="90116" cy="405706"/>
          </a:xfrm>
          <a:prstGeom prst="roundRect">
            <a:avLst>
              <a:gd name="adj" fmla="val 420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0" name="Shape 7"/>
          <p:cNvSpPr/>
          <p:nvPr/>
        </p:nvSpPr>
        <p:spPr>
          <a:xfrm>
            <a:off x="1596331" y="1948011"/>
            <a:ext cx="270495" cy="270495"/>
          </a:xfrm>
          <a:prstGeom prst="roundRect">
            <a:avLst>
              <a:gd name="adj" fmla="val 10564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>
            <a:normAutofit fontScale="40000" lnSpcReduction="20000"/>
          </a:bodyPr>
          <a:lstStyle/>
          <a:p>
            <a:endParaRPr lang="en-US" sz="1688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63973" y="2015654"/>
            <a:ext cx="135211" cy="13521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4125" y="1962076"/>
            <a:ext cx="1558881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1094"/>
              </a:lnSpc>
            </a:pPr>
            <a:r>
              <a:rPr lang="en-US" sz="1313" b="1" dirty="0">
                <a:solidFill>
                  <a:srgbClr val="272525"/>
                </a:solidFill>
                <a:latin typeface="Segoe UI" pitchFamily="34"/>
              </a:rPr>
              <a:t>Step 2: Semantic Retrieval</a:t>
            </a:r>
            <a:endParaRPr lang="en-US" sz="1313" dirty="0"/>
          </a:p>
        </p:txBody>
      </p:sp>
      <p:sp>
        <p:nvSpPr>
          <p:cNvPr id="13" name="Text 9"/>
          <p:cNvSpPr/>
          <p:nvPr/>
        </p:nvSpPr>
        <p:spPr>
          <a:xfrm>
            <a:off x="1924125" y="2137321"/>
            <a:ext cx="621937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906"/>
              </a:lnSpc>
            </a:pPr>
            <a:r>
              <a:rPr lang="en-US" sz="1032" dirty="0">
                <a:solidFill>
                  <a:srgbClr val="272525"/>
                </a:solidFill>
                <a:latin typeface="Segoe UI" pitchFamily="34"/>
              </a:rPr>
              <a:t>System retrieves the most relevant courses using hybrid vector + keyword search.</a:t>
            </a:r>
            <a:endParaRPr lang="en-US" sz="1032" dirty="0"/>
          </a:p>
        </p:txBody>
      </p:sp>
      <p:sp>
        <p:nvSpPr>
          <p:cNvPr id="14" name="Shape 10"/>
          <p:cNvSpPr/>
          <p:nvPr/>
        </p:nvSpPr>
        <p:spPr>
          <a:xfrm>
            <a:off x="1821805" y="2605460"/>
            <a:ext cx="90116" cy="405706"/>
          </a:xfrm>
          <a:prstGeom prst="roundRect">
            <a:avLst>
              <a:gd name="adj" fmla="val 420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15" name="Shape 11"/>
          <p:cNvSpPr/>
          <p:nvPr/>
        </p:nvSpPr>
        <p:spPr>
          <a:xfrm>
            <a:off x="1731615" y="2546301"/>
            <a:ext cx="270495" cy="270495"/>
          </a:xfrm>
          <a:prstGeom prst="roundRect">
            <a:avLst>
              <a:gd name="adj" fmla="val 10564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>
            <a:normAutofit fontScale="40000" lnSpcReduction="20000"/>
          </a:bodyPr>
          <a:lstStyle/>
          <a:p>
            <a:endParaRPr lang="en-US" sz="1688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99258" y="2613943"/>
            <a:ext cx="135211" cy="13521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9410" y="2560365"/>
            <a:ext cx="1508492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1094"/>
              </a:lnSpc>
            </a:pPr>
            <a:r>
              <a:rPr lang="en-US" sz="1313" b="1" dirty="0">
                <a:solidFill>
                  <a:srgbClr val="272525"/>
                </a:solidFill>
                <a:latin typeface="Segoe UI" pitchFamily="34"/>
              </a:rPr>
              <a:t>Step 3: Skill Gap Analysis</a:t>
            </a:r>
            <a:endParaRPr lang="en-US" sz="1313" dirty="0"/>
          </a:p>
        </p:txBody>
      </p:sp>
      <p:sp>
        <p:nvSpPr>
          <p:cNvPr id="18" name="Text 13"/>
          <p:cNvSpPr/>
          <p:nvPr/>
        </p:nvSpPr>
        <p:spPr>
          <a:xfrm>
            <a:off x="2059410" y="2735610"/>
            <a:ext cx="607326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906"/>
              </a:lnSpc>
            </a:pPr>
            <a:r>
              <a:rPr lang="en-US" sz="1032" dirty="0">
                <a:solidFill>
                  <a:srgbClr val="272525"/>
                </a:solidFill>
                <a:latin typeface="Segoe UI" pitchFamily="34"/>
              </a:rPr>
              <a:t>Skill Gap Analysis Agent identifies missing prerequisites and recommends foundational courses.</a:t>
            </a:r>
            <a:endParaRPr lang="en-US" sz="1032" dirty="0"/>
          </a:p>
        </p:txBody>
      </p:sp>
      <p:sp>
        <p:nvSpPr>
          <p:cNvPr id="19" name="Shape 14"/>
          <p:cNvSpPr/>
          <p:nvPr/>
        </p:nvSpPr>
        <p:spPr>
          <a:xfrm>
            <a:off x="1957016" y="3203749"/>
            <a:ext cx="90116" cy="405706"/>
          </a:xfrm>
          <a:prstGeom prst="roundRect">
            <a:avLst>
              <a:gd name="adj" fmla="val 420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20" name="Shape 15"/>
          <p:cNvSpPr/>
          <p:nvPr/>
        </p:nvSpPr>
        <p:spPr>
          <a:xfrm>
            <a:off x="1866826" y="3144589"/>
            <a:ext cx="270495" cy="270495"/>
          </a:xfrm>
          <a:prstGeom prst="roundRect">
            <a:avLst>
              <a:gd name="adj" fmla="val 10564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>
            <a:normAutofit fontScale="40000" lnSpcReduction="20000"/>
          </a:bodyPr>
          <a:lstStyle/>
          <a:p>
            <a:endParaRPr lang="en-US" sz="1688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4468" y="3212232"/>
            <a:ext cx="135211" cy="13521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194620" y="3158654"/>
            <a:ext cx="1962325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1094"/>
              </a:lnSpc>
            </a:pPr>
            <a:r>
              <a:rPr lang="en-US" sz="1313" b="1" dirty="0">
                <a:solidFill>
                  <a:srgbClr val="272525"/>
                </a:solidFill>
                <a:latin typeface="Segoe UI" pitchFamily="34"/>
              </a:rPr>
              <a:t>Step 4: Learning Path Generation</a:t>
            </a:r>
            <a:endParaRPr lang="en-US" sz="1313" dirty="0"/>
          </a:p>
        </p:txBody>
      </p:sp>
      <p:sp>
        <p:nvSpPr>
          <p:cNvPr id="23" name="Text 17"/>
          <p:cNvSpPr/>
          <p:nvPr/>
        </p:nvSpPr>
        <p:spPr>
          <a:xfrm>
            <a:off x="2194620" y="3333899"/>
            <a:ext cx="592724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906"/>
              </a:lnSpc>
            </a:pPr>
            <a:r>
              <a:rPr lang="en-US" sz="1032" dirty="0">
                <a:solidFill>
                  <a:srgbClr val="272525"/>
                </a:solidFill>
                <a:latin typeface="Segoe UI" pitchFamily="34"/>
              </a:rPr>
              <a:t>Learning Path Planner generates a structured, sequenced course recommendation from intro to advanced.</a:t>
            </a:r>
            <a:endParaRPr lang="en-US" sz="1032" dirty="0"/>
          </a:p>
        </p:txBody>
      </p:sp>
      <p:sp>
        <p:nvSpPr>
          <p:cNvPr id="24" name="Shape 18"/>
          <p:cNvSpPr/>
          <p:nvPr/>
        </p:nvSpPr>
        <p:spPr>
          <a:xfrm>
            <a:off x="1821805" y="3802038"/>
            <a:ext cx="90116" cy="405706"/>
          </a:xfrm>
          <a:prstGeom prst="roundRect">
            <a:avLst>
              <a:gd name="adj" fmla="val 420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>
            <a:normAutofit/>
          </a:bodyPr>
          <a:lstStyle/>
          <a:p>
            <a:endParaRPr lang="en-US" sz="1688"/>
          </a:p>
        </p:txBody>
      </p:sp>
      <p:sp>
        <p:nvSpPr>
          <p:cNvPr id="25" name="Shape 19"/>
          <p:cNvSpPr/>
          <p:nvPr/>
        </p:nvSpPr>
        <p:spPr>
          <a:xfrm>
            <a:off x="1731615" y="3742879"/>
            <a:ext cx="270495" cy="270495"/>
          </a:xfrm>
          <a:prstGeom prst="roundRect">
            <a:avLst>
              <a:gd name="adj" fmla="val 10564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>
            <a:normAutofit fontScale="40000" lnSpcReduction="20000"/>
          </a:bodyPr>
          <a:lstStyle/>
          <a:p>
            <a:endParaRPr lang="en-US" sz="1688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99258" y="3810521"/>
            <a:ext cx="135211" cy="13521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059410" y="3756943"/>
            <a:ext cx="1490007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1094"/>
              </a:lnSpc>
            </a:pPr>
            <a:r>
              <a:rPr lang="en-US" sz="1313" b="1" dirty="0">
                <a:solidFill>
                  <a:srgbClr val="272525"/>
                </a:solidFill>
                <a:latin typeface="Segoe UI" pitchFamily="34"/>
              </a:rPr>
              <a:t>Step 5: Career Alignment</a:t>
            </a:r>
            <a:endParaRPr lang="en-US" sz="1313" dirty="0"/>
          </a:p>
        </p:txBody>
      </p:sp>
      <p:sp>
        <p:nvSpPr>
          <p:cNvPr id="28" name="Text 21"/>
          <p:cNvSpPr/>
          <p:nvPr/>
        </p:nvSpPr>
        <p:spPr>
          <a:xfrm>
            <a:off x="2059410" y="3932188"/>
            <a:ext cx="607326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906"/>
              </a:lnSpc>
            </a:pPr>
            <a:r>
              <a:rPr lang="en-US" sz="1032" dirty="0">
                <a:solidFill>
                  <a:srgbClr val="272525"/>
                </a:solidFill>
                <a:latin typeface="Segoe UI" pitchFamily="34"/>
              </a:rPr>
              <a:t>Career Alignment Agent maps the final results to relevant career tracks — AI, data science, finance, or software engineering.</a:t>
            </a:r>
            <a:endParaRPr lang="en-US" sz="1032" dirty="0"/>
          </a:p>
        </p:txBody>
      </p:sp>
      <p:sp>
        <p:nvSpPr>
          <p:cNvPr id="29" name="Shape 22"/>
          <p:cNvSpPr/>
          <p:nvPr/>
        </p:nvSpPr>
        <p:spPr>
          <a:xfrm>
            <a:off x="1461120" y="4272335"/>
            <a:ext cx="6221686" cy="294382"/>
          </a:xfrm>
          <a:prstGeom prst="roundRect">
            <a:avLst>
              <a:gd name="adj" fmla="val 12865"/>
            </a:avLst>
          </a:prstGeom>
          <a:solidFill>
            <a:srgbClr val="C7C9EA"/>
          </a:solidFill>
          <a:ln/>
        </p:spPr>
        <p:txBody>
          <a:bodyPr>
            <a:normAutofit fontScale="85000" lnSpcReduction="20000"/>
          </a:bodyPr>
          <a:lstStyle/>
          <a:p>
            <a:endParaRPr lang="en-US" sz="1688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51236" y="4391770"/>
            <a:ext cx="112663" cy="9011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754014" y="4352106"/>
            <a:ext cx="630577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>
              <a:lnSpc>
                <a:spcPts val="906"/>
              </a:lnSpc>
            </a:pPr>
            <a:r>
              <a:rPr lang="en-US" sz="1032" b="1" dirty="0">
                <a:solidFill>
                  <a:srgbClr val="000000"/>
                </a:solidFill>
                <a:latin typeface="Segoe UI" pitchFamily="34"/>
              </a:rPr>
              <a:t>Live Demo:</a:t>
            </a:r>
            <a:r>
              <a:rPr lang="en-US" sz="1032" dirty="0">
                <a:solidFill>
                  <a:srgbClr val="000000"/>
                </a:solidFill>
                <a:latin typeface="Segoe UI" pitchFamily="34"/>
              </a:rPr>
              <a:t> 8 minutes of live system interaction followed by 2 minutes of Q&amp;A with the panel.</a:t>
            </a:r>
            <a:endParaRPr lang="en-US" sz="1032" dirty="0"/>
          </a:p>
        </p:txBody>
      </p:sp>
    </p:spTree>
    <p:extLst>
      <p:ext uri="{BB962C8B-B14F-4D97-AF65-F5344CB8AC3E}">
        <p14:creationId xmlns:p14="http://schemas.microsoft.com/office/powerpoint/2010/main" val="36323684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7108"/>
            <a:ext cx="787301" cy="266403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 sz="1125"/>
          </a:p>
        </p:txBody>
      </p:sp>
      <p:sp>
        <p:nvSpPr>
          <p:cNvPr id="3" name="Text 1"/>
          <p:cNvSpPr/>
          <p:nvPr/>
        </p:nvSpPr>
        <p:spPr>
          <a:xfrm>
            <a:off x="581174" y="479599"/>
            <a:ext cx="61719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406"/>
              </a:lnSpc>
            </a:pPr>
            <a:r>
              <a:rPr lang="en-US" sz="875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NEXT STEP</a:t>
            </a:r>
            <a:endParaRPr lang="en-US" sz="875" dirty="0"/>
          </a:p>
        </p:txBody>
      </p:sp>
      <p:sp>
        <p:nvSpPr>
          <p:cNvPr id="4" name="Text 2"/>
          <p:cNvSpPr/>
          <p:nvPr/>
        </p:nvSpPr>
        <p:spPr>
          <a:xfrm>
            <a:off x="496119" y="760215"/>
            <a:ext cx="689118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b="1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Build the Measurement Framework First</a:t>
            </a:r>
            <a:endParaRPr lang="en-US" sz="2781" dirty="0"/>
          </a:p>
        </p:txBody>
      </p:sp>
      <p:sp>
        <p:nvSpPr>
          <p:cNvPr id="5" name="Text 3"/>
          <p:cNvSpPr/>
          <p:nvPr/>
        </p:nvSpPr>
        <p:spPr>
          <a:xfrm>
            <a:off x="496119" y="1415802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Before proving business value, the foundation for </a:t>
            </a:r>
            <a:r>
              <a:rPr lang="en-US" sz="1094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measuring</a:t>
            </a:r>
            <a:r>
              <a:rPr lang="en-US" sz="1094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that value must be in place. The strategy is to instrument now — so the system is ready to iterate the moment real users arrive.</a:t>
            </a:r>
            <a:endParaRPr lang="en-US" sz="1094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28899"/>
            <a:ext cx="2717229" cy="5670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7878" y="273769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LangFuse</a:t>
            </a:r>
            <a:endParaRPr lang="en-US" sz="1375" dirty="0"/>
          </a:p>
        </p:txBody>
      </p:sp>
      <p:sp>
        <p:nvSpPr>
          <p:cNvPr id="8" name="Text 5"/>
          <p:cNvSpPr/>
          <p:nvPr/>
        </p:nvSpPr>
        <p:spPr>
          <a:xfrm>
            <a:off x="637878" y="3044205"/>
            <a:ext cx="2433712" cy="6804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Online tracing for every LLM call — capturing cost, latency, and behavior in production.</a:t>
            </a:r>
            <a:endParaRPr lang="en-US" sz="1094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9" y="2028899"/>
            <a:ext cx="2717229" cy="5670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55107" y="273769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DeepEval</a:t>
            </a:r>
            <a:endParaRPr lang="en-US" sz="1375" dirty="0"/>
          </a:p>
        </p:txBody>
      </p:sp>
      <p:sp>
        <p:nvSpPr>
          <p:cNvPr id="11" name="Text 7"/>
          <p:cNvSpPr/>
          <p:nvPr/>
        </p:nvSpPr>
        <p:spPr>
          <a:xfrm>
            <a:off x="3355107" y="3044205"/>
            <a:ext cx="243371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A repeatable evaluation harness enabling consistent, automated quality benchmarking across iterations.</a:t>
            </a:r>
            <a:endParaRPr lang="en-US" sz="1094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2028899"/>
            <a:ext cx="2717229" cy="56703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72337" y="273769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Real Users</a:t>
            </a:r>
            <a:endParaRPr lang="en-US" sz="1375" dirty="0"/>
          </a:p>
        </p:txBody>
      </p:sp>
      <p:sp>
        <p:nvSpPr>
          <p:cNvPr id="14" name="Text 9"/>
          <p:cNvSpPr/>
          <p:nvPr/>
        </p:nvSpPr>
        <p:spPr>
          <a:xfrm>
            <a:off x="6072337" y="3044205"/>
            <a:ext cx="243371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With infrastructure in place, each new user adds signal — turning the system into a continuously improving loop.</a:t>
            </a:r>
            <a:endParaRPr lang="en-US" sz="1094" dirty="0"/>
          </a:p>
        </p:txBody>
      </p:sp>
      <p:sp>
        <p:nvSpPr>
          <p:cNvPr id="15" name="Text 10"/>
          <p:cNvSpPr/>
          <p:nvPr/>
        </p:nvSpPr>
        <p:spPr>
          <a:xfrm>
            <a:off x="496119" y="4252690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b="1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PoC proves the technology works.</a:t>
            </a:r>
            <a:r>
              <a:rPr lang="en-US" sz="1094" dirty="0">
                <a:solidFill>
                  <a:srgbClr val="272525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 The next milestone is clear: onboard real users, collect ground truth, and prove business value.</a:t>
            </a:r>
            <a:endParaRPr lang="en-US" sz="1094" dirty="0"/>
          </a:p>
        </p:txBody>
      </p:sp>
    </p:spTree>
    <p:extLst>
      <p:ext uri="{BB962C8B-B14F-4D97-AF65-F5344CB8AC3E}">
        <p14:creationId xmlns:p14="http://schemas.microsoft.com/office/powerpoint/2010/main" val="3535502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40B2B95-C4A1-45AB-998D-B0211366D8D2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844</TotalTime>
  <Words>2633</Words>
  <Application>Microsoft Office PowerPoint</Application>
  <PresentationFormat>On-screen Show (16:9)</PresentationFormat>
  <Paragraphs>434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University Course Finder</dc:title>
  <dc:subject>PptxGenJS Presentation</dc:subject>
  <dc:creator>Yuichi Yamazaki</dc:creator>
  <cp:lastModifiedBy>優一 山崎</cp:lastModifiedBy>
  <cp:revision>12</cp:revision>
  <cp:lastPrinted>2026-03-18T22:39:29Z</cp:lastPrinted>
  <dcterms:created xsi:type="dcterms:W3CDTF">2026-03-17T14:55:56Z</dcterms:created>
  <dcterms:modified xsi:type="dcterms:W3CDTF">2026-03-19T05:16:12Z</dcterms:modified>
</cp:coreProperties>
</file>